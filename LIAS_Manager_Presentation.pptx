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9DBD26A-871F-ABFF-3C0A-5CB3C15AB2C8}">
          <p14:sldIdLst>
            <p14:sldId id="256"/>
            <p14:sldId id="257"/>
            <p14:sldId id="258"/>
          </p14:sldIdLst>
        </p14:section>
        <p14:section name="Conception" id="{75E77648-9FEE-8293-D162-F30512031A23}">
          <p14:sldIdLst>
            <p14:sldId id="259"/>
          </p14:sldIdLst>
        </p14:section>
        <p14:section name="Réalisation" id="{7A616E9C-90F5-93E5-F220-717D3615118E}">
          <p14:sldIdLst>
            <p14:sldId id="260"/>
            <p14:sldId id="261"/>
          </p14:sldIdLst>
        </p14:section>
        <p14:section name="Application" id="{2ABAB332-9BAC-4EB8-EB79-D79D2730933E}">
          <p14:sldIdLst>
            <p14:sldId id="262"/>
            <p14:sldId id="263"/>
            <p14:sldId id="264"/>
          </p14:sldIdLst>
        </p14:section>
        <p14:section name="Conclusion" id="{8EC92185-9B63-5B17-5B6A-66B06857DAD8}">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774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présenter LIAS Manager, une plateforme web JEE que j'ai réalisée pour digitaliser la gestion du laboratoire LIAS (Faculté des Sciences Ben M'Sik). Le projet a été développé avec Spring Boot 3, Thymeleaf et MySQL, dans le cadre du module Développement JEE du Master Data Science &amp; Big Data, sous l'encadrement de Pr. Belangour.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laboratoire gère aujourd'hui ses activités avec des outils hétérogènes : fichiers Excel, emails, documents papier. Quatre problèmes en découlent : informations dispersées, manque de traçabilité, bilan annuel très long à préparer et absence de circuit centralisé pour les demandes d'adhésion. LIAS Manager répond avec quatre objectifs : centralisation, traçabilité, automatisation du rapport annuel et mémoire institutionnelle.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fonctionnels sont regroupés en quatre pôles : gouvernance et membres, activité scientifique, administration et ressources, communication et monitoring. Côté non fonctionnel : sécurité par session, interface moderne avec mode sombre, performance et code modulaire. Le diagramme de cas d'utilisation montre les acteurs : le visiteur peut seulement consulter et demander à rejoindre le labo, tandis que la Direction (Pr. Benabbou et Pr. Belangour) a tous les droits : valider les adhésions, gérer l'équipe, distribuer le matériel, générer le rapport annuel.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MVC : le Modèle regroupe les classes Java annotées @Entity qui correspondent aux tables MySQL ; la Vue est générée par Thymeleaf ; le Contrôleur (MainController) reçoit les requêtes, appelle les repositories et renvoie la bonne page. La base lias_db contient 7 entités : Utilisateur, Publication, Evenement, Materiel, Reunion, Convention et Notification. Un utilisateur peut avoir plusieurs publications et plusieurs équipements, avec des clés étrangères (auteur_id, detenteur_id) pour garantir l'intégrité des données.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réalisation : Java 17 (version LTS) avec Spring Boot 3, qui embarque Tomcat et évite la configuration lourde. Spring Data JPA et Hibernate font le lien entre les objets Java et MySQL : les repositories comme UtilisateurRepository gèrent le CRUD sans écrire de SQL. Thymeleaf génère les pages HTML côté serveur, Bootstrap 5 donne l'interface et le mode sombre. La base MySQL tourne sur XAMPP et je l'ai contrôlée avec phpMyAdmin pendant les tests ; le code a été écrit dans VS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piliers. Sécurité : à chaque requête, le contrôleur vérifie l'attribut de session utilisateurConnecte ; s'il est nul, l'utilisateur est redirigé vers /login. De plus, une vérification d'email dans MainController limite les fonctions de gestion aux deux membres de la Direction. Traçabilité : chaque fois qu'on ajoute un membre, un document ou un événement, le contrôleur enregistre l'objet puis crée une Notification stockée en base. La Direction peut ainsi consulter tout l'historique des actions.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l'application en fonctionnement. À gauche, la page d'accueil publique, qui présente le laboratoire et offre deux entrées : « Rejoindre le labo » pour soumettre une candidature, et « Connexion » pour la Direction. À droite, le tableau de bord après authentification : une barre latérale organisée par catégories, l'annuaire des membres trié automatiquement par équipe (ISDIAC, SIMA, SDTIC, ILIAS), avec recherche en direct et actions de modification, suppression ou mise à la retraite.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annuel est le point fort du projet : en un clic, le système interroge la base et compte les membres, publications, événements et matériels, puis affiche des tableaux de synthèse classés du plus récent au plus ancien. C'est un vrai outil d'aide à la décision pour la Direction. À droite, la mémoire institutionnelle : l'onglet Archives conserve les anciens membres et retraités, et le module Documents centralise les pièces administratives avec un lien de téléchargement.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reste de la plateforme couvre tout le cahier des charges : répertoire des publications liées à leurs auteurs, agenda des événements, inventaire du matériel avec le détenteur de chaque équipement, réunions avec ordre du jour et lien vers le procès-verbal, conventions de partenariat, et centre de notifications. S'ajoutent le traitement des demandes d'adhésion, le calendrier scientifique et un mur de communication interne.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LIAS Manager n'est pas un simple annuaire mais un véritable outil de gouvernance numérique : il centralise, trace et automatise. Sur le plan technique, il m'a permis de maîtriser JEE avec Spring Boot 3, JPA et l'architecture MVC. Comme perspectives : un vrai upload de fichiers PDF, des alertes email via SMTP, un module d'IA pour suggérer des collaborations entre chercheurs, et une application mobile. Merci pour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1325880"/>
            <a:ext cx="4389120" cy="8686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1"/>
          <p:cNvSpPr>
            <a:spLocks noGrp="1"/>
          </p:cNvSpPr>
          <p:nvPr>
            <p:ph type="body" idx="102" hasCustomPrompt="1"/>
          </p:nvPr>
        </p:nvSpPr>
        <p:spPr>
          <a:xfrm>
            <a:off x="548640" y="2286000"/>
            <a:ext cx="4297680" cy="10058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LIAS Manager  ·  Master Data Science &amp; Big Data</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274320"/>
            <a:ext cx="8229600" cy="73152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1"/>
          <p:cNvSpPr/>
          <p:nvPr/>
        </p:nvSpPr>
        <p:spPr>
          <a:xfrm>
            <a:off x="457200" y="4773168"/>
            <a:ext cx="5486400" cy="228600"/>
          </a:xfrm>
          <a:prstGeom prst="rect">
            <a:avLst/>
          </a:prstGeom>
          <a:noFill/>
          <a:ln/>
        </p:spPr>
        <p:txBody>
          <a:bodyPr wrap="square" lIns="0" tIns="0" rIns="0" bIns="0" rtlCol="0" anchor="ctr"/>
          <a:lstStyle/>
          <a:p>
            <a:pPr marL="0" indent="0">
              <a:buNone/>
            </a:pPr>
            <a:r>
              <a:rPr lang="en-US" sz="1000" dirty="0">
                <a:solidFill>
                  <a:schemeClr val="bg2"/>
                </a:solidFill>
              </a:rPr>
              <a:t>LIAS Manager  ·  Master Data Science &amp; Big Data</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6"/>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4.png"/><Relationship Id="rId7"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e 1"/>
          <p:cNvSpPr txBox="1"/>
          <p:nvPr/>
        </p:nvSpPr>
        <p:spPr>
          <a:xfrm>
            <a:off x="548640" y="777240"/>
            <a:ext cx="804672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MASTER DATA SCIENCE &amp; BIG DATA   ·   MODULE JEE</a:t>
            </a:r>
            <a:endParaRPr lang="en-US" sz="1200" dirty="0"/>
          </a:p>
        </p:txBody>
      </p:sp>
      <p:sp>
        <p:nvSpPr>
          <p:cNvPr id="3" name="Text 1"/>
          <p:cNvSpPr>
            <a:spLocks noGrp="1"/>
          </p:cNvSpPr>
          <p:nvPr>
            <p:ph type="title" idx="101" hasCustomPrompt="1"/>
          </p:nvPr>
        </p:nvSpPr>
        <p:spPr>
          <a:xfrm>
            <a:off x="548640" y="1325880"/>
            <a:ext cx="4389120" cy="868680"/>
          </a:xfrm>
          <a:prstGeom prst="rect">
            <a:avLst/>
          </a:prstGeom>
          <a:noFill/>
          <a:ln/>
        </p:spPr>
        <p:txBody>
          <a:bodyPr wrap="square" lIns="0" tIns="0" rIns="0" bIns="0" rtlCol="0" anchor="ctr"/>
          <a:lstStyle/>
          <a:p>
            <a:pPr marL="0" indent="0" algn="l">
              <a:buNone/>
            </a:pPr>
            <a:r>
              <a:rPr lang="en-US" sz="4800" b="1" dirty="0">
                <a:solidFill>
                  <a:schemeClr val="bg1"/>
                </a:solidFill>
              </a:rPr>
              <a:t>LIAS Manager</a:t>
            </a:r>
            <a:endParaRPr lang="en-US" sz="4800" dirty="0"/>
          </a:p>
        </p:txBody>
      </p:sp>
      <p:sp>
        <p:nvSpPr>
          <p:cNvPr id="4" name="Text 1"/>
          <p:cNvSpPr>
            <a:spLocks noGrp="1"/>
          </p:cNvSpPr>
          <p:nvPr>
            <p:ph type="body" idx="102" hasCustomPrompt="1"/>
          </p:nvPr>
        </p:nvSpPr>
        <p:spPr>
          <a:xfrm>
            <a:off x="548640" y="2286000"/>
            <a:ext cx="4297680" cy="1005840"/>
          </a:xfrm>
          <a:prstGeom prst="rect">
            <a:avLst/>
          </a:prstGeom>
          <a:noFill/>
          <a:ln/>
        </p:spPr>
        <p:txBody>
          <a:bodyPr wrap="square" lIns="0" tIns="0" rIns="0" bIns="0" rtlCol="0" anchor="t"/>
          <a:lstStyle/>
          <a:p>
            <a:pPr marL="0" indent="0" algn="l">
              <a:buNone/>
            </a:pPr>
            <a:r>
              <a:rPr lang="en-US" sz="2000" dirty="0">
                <a:solidFill>
                  <a:schemeClr val="bg2"/>
                </a:solidFill>
              </a:rPr>
              <a:t>Plateforme web de gestion intégrée du laboratoire LIAS</a:t>
            </a:r>
            <a:endParaRPr lang="en-US" sz="2000" dirty="0"/>
          </a:p>
        </p:txBody>
      </p:sp>
      <p:sp>
        <p:nvSpPr>
          <p:cNvPr id="5" name="Texte 2"/>
          <p:cNvSpPr txBox="1"/>
          <p:nvPr/>
        </p:nvSpPr>
        <p:spPr>
          <a:xfrm>
            <a:off x="548640" y="3703320"/>
            <a:ext cx="4572000" cy="868680"/>
          </a:xfrm>
          <a:prstGeom prst="rect">
            <a:avLst/>
          </a:prstGeom>
          <a:noFill/>
          <a:ln/>
        </p:spPr>
        <p:txBody>
          <a:bodyPr wrap="square" lIns="0" tIns="0" rIns="0" bIns="0" rtlCol="0" anchor="t"/>
          <a:lstStyle/>
          <a:p>
            <a:pPr marL="0" indent="0">
              <a:spcAft>
                <a:spcPts val="300"/>
              </a:spcAft>
              <a:buNone/>
            </a:pPr>
            <a:r>
              <a:rPr lang="en-US" sz="1400" b="1" dirty="0">
                <a:solidFill>
                  <a:schemeClr val="bg1"/>
                </a:solidFill>
              </a:rPr>
              <a:t>Réalisé par Ouatile Yousra</a:t>
            </a:r>
            <a:endParaRPr lang="en-US" sz="1400" dirty="0"/>
          </a:p>
          <a:p>
            <a:pPr marL="0" indent="0">
              <a:spcAft>
                <a:spcPts val="300"/>
              </a:spcAft>
              <a:buNone/>
            </a:pPr>
            <a:r>
              <a:rPr lang="en-US" sz="1400" dirty="0">
                <a:solidFill>
                  <a:schemeClr val="bg2"/>
                </a:solidFill>
              </a:rPr>
              <a:t>Encadré par Pr. Abdessamad Belangour</a:t>
            </a:r>
            <a:endParaRPr lang="en-US" sz="1400" dirty="0"/>
          </a:p>
          <a:p>
            <a:pPr marL="0" indent="0">
              <a:spcAft>
                <a:spcPts val="300"/>
              </a:spcAft>
              <a:buNone/>
            </a:pPr>
            <a:r>
              <a:rPr lang="en-US" sz="1400" dirty="0">
                <a:solidFill>
                  <a:schemeClr val="accent1"/>
                </a:solidFill>
              </a:rPr>
              <a:t>Année universitaire 2025 – 2026</a:t>
            </a:r>
            <a:endParaRPr lang="en-US" sz="1400" dirty="0"/>
          </a:p>
        </p:txBody>
      </p:sp>
      <p:pic>
        <p:nvPicPr>
          <p:cNvPr id="6" name="Capture 3" descr="Capture d'écran /mnt/user-data/uploads/Homa_lias.png"/>
          <p:cNvPicPr>
            <a:picLocks noChangeAspect="1"/>
          </p:cNvPicPr>
          <p:nvPr/>
        </p:nvPicPr>
        <p:blipFill>
          <a:blip r:embed="rId3"/>
          <a:stretch>
            <a:fillRect/>
          </a:stretch>
        </p:blipFill>
        <p:spPr>
          <a:xfrm>
            <a:off x="5212080" y="1417320"/>
            <a:ext cx="3474720" cy="1581455"/>
          </a:xfrm>
          <a:prstGeom prst="rect">
            <a:avLst/>
          </a:prstGeom>
        </p:spPr>
      </p:pic>
      <p:sp>
        <p:nvSpPr>
          <p:cNvPr id="7" name="Contour capture 4"/>
          <p:cNvSpPr/>
          <p:nvPr/>
        </p:nvSpPr>
        <p:spPr>
          <a:xfrm>
            <a:off x="5175504" y="1380744"/>
            <a:ext cx="3547872" cy="1654607"/>
          </a:xfrm>
          <a:prstGeom prst="rect">
            <a:avLst/>
          </a:prstGeom>
          <a:solidFill>
            <a:schemeClr val="tx1">
              <a:alpha val="0"/>
            </a:schemeClr>
          </a:solidFill>
          <a:ln w="15875">
            <a:solidFill>
              <a:schemeClr val="accent1"/>
            </a:solidFill>
            <a:prstDash val="solid"/>
          </a:ln>
        </p:spPr>
      </p:sp>
      <p:sp>
        <p:nvSpPr>
          <p:cNvPr id="8" name="Puce techno 5"/>
          <p:cNvSpPr txBox="1"/>
          <p:nvPr/>
        </p:nvSpPr>
        <p:spPr>
          <a:xfrm>
            <a:off x="5212080" y="3273095"/>
            <a:ext cx="1097280" cy="292608"/>
          </a:xfrm>
          <a:prstGeom prst="roundRect">
            <a:avLst>
              <a:gd name="adj" fmla="val 25000"/>
            </a:avLst>
          </a:prstGeom>
          <a:solidFill>
            <a:schemeClr val="accent2"/>
          </a:solidFill>
          <a:ln/>
        </p:spPr>
        <p:txBody>
          <a:bodyPr wrap="square" lIns="0" tIns="0" rIns="0" bIns="0" rtlCol="0" anchor="ctr"/>
          <a:lstStyle/>
          <a:p>
            <a:pPr marL="0" indent="0" algn="ctr">
              <a:buNone/>
            </a:pPr>
            <a:r>
              <a:rPr lang="en-US" sz="1200" b="1" dirty="0">
                <a:solidFill>
                  <a:schemeClr val="bg1"/>
                </a:solidFill>
              </a:rPr>
              <a:t>Spring Boot 3</a:t>
            </a:r>
            <a:endParaRPr lang="en-US" sz="1200" dirty="0"/>
          </a:p>
        </p:txBody>
      </p:sp>
      <p:sp>
        <p:nvSpPr>
          <p:cNvPr id="9" name="Puce techno 6"/>
          <p:cNvSpPr txBox="1"/>
          <p:nvPr/>
        </p:nvSpPr>
        <p:spPr>
          <a:xfrm>
            <a:off x="6400800" y="3273095"/>
            <a:ext cx="1097280" cy="292608"/>
          </a:xfrm>
          <a:prstGeom prst="roundRect">
            <a:avLst>
              <a:gd name="adj" fmla="val 25000"/>
            </a:avLst>
          </a:prstGeom>
          <a:solidFill>
            <a:schemeClr val="accent2"/>
          </a:solidFill>
          <a:ln/>
        </p:spPr>
        <p:txBody>
          <a:bodyPr wrap="square" lIns="0" tIns="0" rIns="0" bIns="0" rtlCol="0" anchor="ctr"/>
          <a:lstStyle/>
          <a:p>
            <a:pPr marL="0" indent="0" algn="ctr">
              <a:buNone/>
            </a:pPr>
            <a:r>
              <a:rPr lang="en-US" sz="1200" b="1" dirty="0">
                <a:solidFill>
                  <a:schemeClr val="bg1"/>
                </a:solidFill>
              </a:rPr>
              <a:t>Thymeleaf</a:t>
            </a:r>
            <a:endParaRPr lang="en-US" sz="1200" dirty="0"/>
          </a:p>
        </p:txBody>
      </p:sp>
      <p:sp>
        <p:nvSpPr>
          <p:cNvPr id="10" name="Puce techno 7"/>
          <p:cNvSpPr txBox="1"/>
          <p:nvPr/>
        </p:nvSpPr>
        <p:spPr>
          <a:xfrm>
            <a:off x="7589520" y="3273095"/>
            <a:ext cx="1097280" cy="292608"/>
          </a:xfrm>
          <a:prstGeom prst="roundRect">
            <a:avLst>
              <a:gd name="adj" fmla="val 25000"/>
            </a:avLst>
          </a:prstGeom>
          <a:solidFill>
            <a:schemeClr val="accent2"/>
          </a:solidFill>
          <a:ln/>
        </p:spPr>
        <p:txBody>
          <a:bodyPr wrap="square" lIns="0" tIns="0" rIns="0" bIns="0" rtlCol="0" anchor="ctr"/>
          <a:lstStyle/>
          <a:p>
            <a:pPr marL="0" indent="0" algn="ctr">
              <a:buNone/>
            </a:pPr>
            <a:r>
              <a:rPr lang="en-US" sz="1200" b="1" dirty="0">
                <a:solidFill>
                  <a:schemeClr val="bg1"/>
                </a:solidFill>
              </a:rPr>
              <a:t>MySQL</a:t>
            </a:r>
            <a:endParaRPr lang="en-US" sz="1200" dirty="0"/>
          </a:p>
        </p:txBody>
      </p:sp>
      <p:pic>
        <p:nvPicPr>
          <p:cNvPr id="12" name="Image 11">
            <a:extLst>
              <a:ext uri="{FF2B5EF4-FFF2-40B4-BE49-F238E27FC236}">
                <a16:creationId xmlns:a16="http://schemas.microsoft.com/office/drawing/2014/main" id="{7627F02C-74DB-BBC1-8883-65546AB6E5CF}"/>
              </a:ext>
            </a:extLst>
          </p:cNvPr>
          <p:cNvPicPr>
            <a:picLocks noChangeAspect="1"/>
          </p:cNvPicPr>
          <p:nvPr/>
        </p:nvPicPr>
        <p:blipFill>
          <a:blip r:embed="rId4"/>
          <a:stretch>
            <a:fillRect/>
          </a:stretch>
        </p:blipFill>
        <p:spPr>
          <a:xfrm>
            <a:off x="422032" y="2813"/>
            <a:ext cx="1237956" cy="445243"/>
          </a:xfrm>
          <a:prstGeom prst="rect">
            <a:avLst/>
          </a:prstGeom>
        </p:spPr>
      </p:pic>
      <p:pic>
        <p:nvPicPr>
          <p:cNvPr id="13" name="Image 12">
            <a:extLst>
              <a:ext uri="{FF2B5EF4-FFF2-40B4-BE49-F238E27FC236}">
                <a16:creationId xmlns:a16="http://schemas.microsoft.com/office/drawing/2014/main" id="{53A16C5D-496E-95FF-226A-13AB89AD0F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98080" y="62357"/>
            <a:ext cx="1287194" cy="4771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Contexte et problématique</a:t>
            </a:r>
            <a:endParaRPr lang="en-US" sz="3600" dirty="0"/>
          </a:p>
        </p:txBody>
      </p:sp>
      <p:sp>
        <p:nvSpPr>
          <p:cNvPr id="3" name="Texte 8"/>
          <p:cNvSpPr txBox="1"/>
          <p:nvPr/>
        </p:nvSpPr>
        <p:spPr>
          <a:xfrm>
            <a:off x="457200" y="1143000"/>
            <a:ext cx="402336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PROBLÉMATIQUE</a:t>
            </a:r>
            <a:endParaRPr lang="en-US" sz="1200" dirty="0"/>
          </a:p>
        </p:txBody>
      </p:sp>
      <p:sp>
        <p:nvSpPr>
          <p:cNvPr id="4" name="Pastille 9"/>
          <p:cNvSpPr/>
          <p:nvPr/>
        </p:nvSpPr>
        <p:spPr>
          <a:xfrm>
            <a:off x="457200" y="1581912"/>
            <a:ext cx="512064" cy="512064"/>
          </a:xfrm>
          <a:prstGeom prst="ellipse">
            <a:avLst/>
          </a:prstGeom>
          <a:solidFill>
            <a:schemeClr val="tx1"/>
          </a:solidFill>
          <a:ln w="12700">
            <a:solidFill>
              <a:schemeClr val="tx1"/>
            </a:solidFill>
            <a:prstDash val="solid"/>
          </a:ln>
        </p:spPr>
      </p:sp>
      <p:pic>
        <p:nvPicPr>
          <p:cNvPr id="5" name="Icône 10" descr="icône"/>
          <p:cNvPicPr>
            <a:picLocks noChangeAspect="1"/>
          </p:cNvPicPr>
          <p:nvPr/>
        </p:nvPicPr>
        <p:blipFill>
          <a:blip r:embed="rId3"/>
          <a:stretch>
            <a:fillRect/>
          </a:stretch>
        </p:blipFill>
        <p:spPr>
          <a:xfrm>
            <a:off x="585216" y="1709928"/>
            <a:ext cx="256032" cy="256032"/>
          </a:xfrm>
          <a:prstGeom prst="rect">
            <a:avLst/>
          </a:prstGeom>
        </p:spPr>
      </p:pic>
      <p:sp>
        <p:nvSpPr>
          <p:cNvPr id="6" name="Texte 11"/>
          <p:cNvSpPr txBox="1"/>
          <p:nvPr/>
        </p:nvSpPr>
        <p:spPr>
          <a:xfrm>
            <a:off x="1143000" y="1508760"/>
            <a:ext cx="3337560" cy="256032"/>
          </a:xfrm>
          <a:prstGeom prst="rect">
            <a:avLst/>
          </a:prstGeom>
          <a:noFill/>
          <a:ln/>
        </p:spPr>
        <p:txBody>
          <a:bodyPr wrap="square" lIns="0" tIns="0" rIns="0" bIns="0" rtlCol="0" anchor="t"/>
          <a:lstStyle/>
          <a:p>
            <a:pPr marL="0" indent="0">
              <a:buNone/>
            </a:pPr>
            <a:r>
              <a:rPr lang="en-US" sz="1400" b="1" dirty="0">
                <a:solidFill>
                  <a:schemeClr val="tx1"/>
                </a:solidFill>
              </a:rPr>
              <a:t>Informations dispersées</a:t>
            </a:r>
            <a:endParaRPr lang="en-US" sz="1400" dirty="0"/>
          </a:p>
        </p:txBody>
      </p:sp>
      <p:sp>
        <p:nvSpPr>
          <p:cNvPr id="7" name="Texte 12"/>
          <p:cNvSpPr txBox="1"/>
          <p:nvPr/>
        </p:nvSpPr>
        <p:spPr>
          <a:xfrm>
            <a:off x="1143000" y="1764792"/>
            <a:ext cx="3337560" cy="457200"/>
          </a:xfrm>
          <a:prstGeom prst="rect">
            <a:avLst/>
          </a:prstGeom>
          <a:noFill/>
          <a:ln/>
        </p:spPr>
        <p:txBody>
          <a:bodyPr wrap="square" lIns="0" tIns="0" rIns="0" bIns="0" rtlCol="0" anchor="t"/>
          <a:lstStyle/>
          <a:p>
            <a:pPr marL="0" indent="0">
              <a:buNone/>
            </a:pPr>
            <a:r>
              <a:rPr lang="en-US" sz="1400" dirty="0">
                <a:solidFill>
                  <a:schemeClr val="accent5"/>
                </a:solidFill>
              </a:rPr>
              <a:t>Membres, publications et matériel sur des supports séparés.</a:t>
            </a:r>
            <a:endParaRPr lang="en-US" sz="1400" dirty="0"/>
          </a:p>
        </p:txBody>
      </p:sp>
      <p:sp>
        <p:nvSpPr>
          <p:cNvPr id="8" name="Pastille 13"/>
          <p:cNvSpPr/>
          <p:nvPr/>
        </p:nvSpPr>
        <p:spPr>
          <a:xfrm>
            <a:off x="457200" y="2350008"/>
            <a:ext cx="512064" cy="512064"/>
          </a:xfrm>
          <a:prstGeom prst="ellipse">
            <a:avLst/>
          </a:prstGeom>
          <a:solidFill>
            <a:schemeClr val="tx1"/>
          </a:solidFill>
          <a:ln w="12700">
            <a:solidFill>
              <a:schemeClr val="tx1"/>
            </a:solidFill>
            <a:prstDash val="solid"/>
          </a:ln>
        </p:spPr>
      </p:sp>
      <p:pic>
        <p:nvPicPr>
          <p:cNvPr id="9" name="Icône 14" descr="icône"/>
          <p:cNvPicPr>
            <a:picLocks noChangeAspect="1"/>
          </p:cNvPicPr>
          <p:nvPr/>
        </p:nvPicPr>
        <p:blipFill>
          <a:blip r:embed="rId4"/>
          <a:stretch>
            <a:fillRect/>
          </a:stretch>
        </p:blipFill>
        <p:spPr>
          <a:xfrm>
            <a:off x="585216" y="2478024"/>
            <a:ext cx="256032" cy="256032"/>
          </a:xfrm>
          <a:prstGeom prst="rect">
            <a:avLst/>
          </a:prstGeom>
        </p:spPr>
      </p:pic>
      <p:sp>
        <p:nvSpPr>
          <p:cNvPr id="10" name="Texte 15"/>
          <p:cNvSpPr txBox="1"/>
          <p:nvPr/>
        </p:nvSpPr>
        <p:spPr>
          <a:xfrm>
            <a:off x="1143000" y="2276856"/>
            <a:ext cx="3337560" cy="256032"/>
          </a:xfrm>
          <a:prstGeom prst="rect">
            <a:avLst/>
          </a:prstGeom>
          <a:noFill/>
          <a:ln/>
        </p:spPr>
        <p:txBody>
          <a:bodyPr wrap="square" lIns="0" tIns="0" rIns="0" bIns="0" rtlCol="0" anchor="t"/>
          <a:lstStyle/>
          <a:p>
            <a:pPr marL="0" indent="0">
              <a:buNone/>
            </a:pPr>
            <a:r>
              <a:rPr lang="en-US" sz="1400" b="1" dirty="0">
                <a:solidFill>
                  <a:schemeClr val="tx1"/>
                </a:solidFill>
              </a:rPr>
              <a:t>Manque de traçabilité</a:t>
            </a:r>
            <a:endParaRPr lang="en-US" sz="1400" dirty="0"/>
          </a:p>
        </p:txBody>
      </p:sp>
      <p:sp>
        <p:nvSpPr>
          <p:cNvPr id="11" name="Texte 16"/>
          <p:cNvSpPr txBox="1"/>
          <p:nvPr/>
        </p:nvSpPr>
        <p:spPr>
          <a:xfrm>
            <a:off x="1143000" y="2532888"/>
            <a:ext cx="3337560" cy="457200"/>
          </a:xfrm>
          <a:prstGeom prst="rect">
            <a:avLst/>
          </a:prstGeom>
          <a:noFill/>
          <a:ln/>
        </p:spPr>
        <p:txBody>
          <a:bodyPr wrap="square" lIns="0" tIns="0" rIns="0" bIns="0" rtlCol="0" anchor="t"/>
          <a:lstStyle/>
          <a:p>
            <a:pPr marL="0" indent="0">
              <a:buNone/>
            </a:pPr>
            <a:r>
              <a:rPr lang="en-US" sz="1400" dirty="0">
                <a:solidFill>
                  <a:schemeClr val="accent5"/>
                </a:solidFill>
              </a:rPr>
              <a:t>Historique des décisions et du matériel difficile à suivre.</a:t>
            </a:r>
            <a:endParaRPr lang="en-US" sz="1400" dirty="0"/>
          </a:p>
        </p:txBody>
      </p:sp>
      <p:sp>
        <p:nvSpPr>
          <p:cNvPr id="12" name="Pastille 17"/>
          <p:cNvSpPr/>
          <p:nvPr/>
        </p:nvSpPr>
        <p:spPr>
          <a:xfrm>
            <a:off x="457200" y="3118104"/>
            <a:ext cx="512064" cy="512064"/>
          </a:xfrm>
          <a:prstGeom prst="ellipse">
            <a:avLst/>
          </a:prstGeom>
          <a:solidFill>
            <a:schemeClr val="tx1"/>
          </a:solidFill>
          <a:ln w="12700">
            <a:solidFill>
              <a:schemeClr val="tx1"/>
            </a:solidFill>
            <a:prstDash val="solid"/>
          </a:ln>
        </p:spPr>
      </p:sp>
      <p:pic>
        <p:nvPicPr>
          <p:cNvPr id="13" name="Icône 18" descr="icône"/>
          <p:cNvPicPr>
            <a:picLocks noChangeAspect="1"/>
          </p:cNvPicPr>
          <p:nvPr/>
        </p:nvPicPr>
        <p:blipFill>
          <a:blip r:embed="rId5"/>
          <a:stretch>
            <a:fillRect/>
          </a:stretch>
        </p:blipFill>
        <p:spPr>
          <a:xfrm>
            <a:off x="585216" y="3246120"/>
            <a:ext cx="256032" cy="256032"/>
          </a:xfrm>
          <a:prstGeom prst="rect">
            <a:avLst/>
          </a:prstGeom>
        </p:spPr>
      </p:pic>
      <p:sp>
        <p:nvSpPr>
          <p:cNvPr id="14" name="Texte 19"/>
          <p:cNvSpPr txBox="1"/>
          <p:nvPr/>
        </p:nvSpPr>
        <p:spPr>
          <a:xfrm>
            <a:off x="1143000" y="3044952"/>
            <a:ext cx="3337560" cy="256032"/>
          </a:xfrm>
          <a:prstGeom prst="rect">
            <a:avLst/>
          </a:prstGeom>
          <a:noFill/>
          <a:ln/>
        </p:spPr>
        <p:txBody>
          <a:bodyPr wrap="square" lIns="0" tIns="0" rIns="0" bIns="0" rtlCol="0" anchor="t"/>
          <a:lstStyle/>
          <a:p>
            <a:pPr marL="0" indent="0">
              <a:buNone/>
            </a:pPr>
            <a:r>
              <a:rPr lang="en-US" sz="1400" b="1" dirty="0">
                <a:solidFill>
                  <a:schemeClr val="tx1"/>
                </a:solidFill>
              </a:rPr>
              <a:t>Reporting laborieux</a:t>
            </a:r>
            <a:endParaRPr lang="en-US" sz="1400" dirty="0"/>
          </a:p>
        </p:txBody>
      </p:sp>
      <p:sp>
        <p:nvSpPr>
          <p:cNvPr id="15" name="Texte 20"/>
          <p:cNvSpPr txBox="1"/>
          <p:nvPr/>
        </p:nvSpPr>
        <p:spPr>
          <a:xfrm>
            <a:off x="1143000" y="3300984"/>
            <a:ext cx="3337560" cy="457200"/>
          </a:xfrm>
          <a:prstGeom prst="rect">
            <a:avLst/>
          </a:prstGeom>
          <a:noFill/>
          <a:ln/>
        </p:spPr>
        <p:txBody>
          <a:bodyPr wrap="square" lIns="0" tIns="0" rIns="0" bIns="0" rtlCol="0" anchor="t"/>
          <a:lstStyle/>
          <a:p>
            <a:pPr marL="0" indent="0">
              <a:buNone/>
            </a:pPr>
            <a:r>
              <a:rPr lang="en-US" sz="1400" dirty="0">
                <a:solidFill>
                  <a:schemeClr val="accent5"/>
                </a:solidFill>
              </a:rPr>
              <a:t>Bilan annuel collecté à la main auprès de chaque chercheur.</a:t>
            </a:r>
            <a:endParaRPr lang="en-US" sz="1400" dirty="0"/>
          </a:p>
        </p:txBody>
      </p:sp>
      <p:sp>
        <p:nvSpPr>
          <p:cNvPr id="16" name="Pastille 21"/>
          <p:cNvSpPr/>
          <p:nvPr/>
        </p:nvSpPr>
        <p:spPr>
          <a:xfrm>
            <a:off x="457200" y="3886200"/>
            <a:ext cx="512064" cy="512064"/>
          </a:xfrm>
          <a:prstGeom prst="ellipse">
            <a:avLst/>
          </a:prstGeom>
          <a:solidFill>
            <a:schemeClr val="tx1"/>
          </a:solidFill>
          <a:ln w="12700">
            <a:solidFill>
              <a:schemeClr val="tx1"/>
            </a:solidFill>
            <a:prstDash val="solid"/>
          </a:ln>
        </p:spPr>
      </p:sp>
      <p:pic>
        <p:nvPicPr>
          <p:cNvPr id="17" name="Icône 22" descr="icône"/>
          <p:cNvPicPr>
            <a:picLocks noChangeAspect="1"/>
          </p:cNvPicPr>
          <p:nvPr/>
        </p:nvPicPr>
        <p:blipFill>
          <a:blip r:embed="rId6"/>
          <a:stretch>
            <a:fillRect/>
          </a:stretch>
        </p:blipFill>
        <p:spPr>
          <a:xfrm>
            <a:off x="585216" y="4014216"/>
            <a:ext cx="256032" cy="256032"/>
          </a:xfrm>
          <a:prstGeom prst="rect">
            <a:avLst/>
          </a:prstGeom>
        </p:spPr>
      </p:pic>
      <p:sp>
        <p:nvSpPr>
          <p:cNvPr id="18" name="Texte 23"/>
          <p:cNvSpPr txBox="1"/>
          <p:nvPr/>
        </p:nvSpPr>
        <p:spPr>
          <a:xfrm>
            <a:off x="1143000" y="3813048"/>
            <a:ext cx="3337560" cy="256032"/>
          </a:xfrm>
          <a:prstGeom prst="rect">
            <a:avLst/>
          </a:prstGeom>
          <a:noFill/>
          <a:ln/>
        </p:spPr>
        <p:txBody>
          <a:bodyPr wrap="square" lIns="0" tIns="0" rIns="0" bIns="0" rtlCol="0" anchor="t"/>
          <a:lstStyle/>
          <a:p>
            <a:pPr marL="0" indent="0">
              <a:buNone/>
            </a:pPr>
            <a:r>
              <a:rPr lang="en-US" sz="1400" b="1" dirty="0">
                <a:solidFill>
                  <a:schemeClr val="tx1"/>
                </a:solidFill>
              </a:rPr>
              <a:t>Adhésions non centralisées</a:t>
            </a:r>
            <a:endParaRPr lang="en-US" sz="1400" dirty="0"/>
          </a:p>
        </p:txBody>
      </p:sp>
      <p:sp>
        <p:nvSpPr>
          <p:cNvPr id="19" name="Texte 24"/>
          <p:cNvSpPr txBox="1"/>
          <p:nvPr/>
        </p:nvSpPr>
        <p:spPr>
          <a:xfrm>
            <a:off x="1143000" y="4069080"/>
            <a:ext cx="3337560" cy="457200"/>
          </a:xfrm>
          <a:prstGeom prst="rect">
            <a:avLst/>
          </a:prstGeom>
          <a:noFill/>
          <a:ln/>
        </p:spPr>
        <p:txBody>
          <a:bodyPr wrap="square" lIns="0" tIns="0" rIns="0" bIns="0" rtlCol="0" anchor="t"/>
          <a:lstStyle/>
          <a:p>
            <a:pPr marL="0" indent="0">
              <a:buNone/>
            </a:pPr>
            <a:r>
              <a:rPr lang="en-US" sz="1400" dirty="0">
                <a:solidFill>
                  <a:schemeClr val="accent5"/>
                </a:solidFill>
              </a:rPr>
              <a:t>Aucune interface pour étudier les dossiers des candidats.</a:t>
            </a:r>
            <a:endParaRPr lang="en-US" sz="1400" dirty="0"/>
          </a:p>
        </p:txBody>
      </p:sp>
      <p:sp>
        <p:nvSpPr>
          <p:cNvPr id="20" name="Panneau objectifs 25"/>
          <p:cNvSpPr/>
          <p:nvPr/>
        </p:nvSpPr>
        <p:spPr>
          <a:xfrm>
            <a:off x="4754880" y="1143000"/>
            <a:ext cx="3931920" cy="3429000"/>
          </a:xfrm>
          <a:prstGeom prst="roundRect">
            <a:avLst>
              <a:gd name="adj" fmla="val 2667"/>
            </a:avLst>
          </a:prstGeom>
          <a:solidFill>
            <a:schemeClr val="tx1"/>
          </a:solidFill>
          <a:ln w="12700">
            <a:solidFill>
              <a:schemeClr val="tx1"/>
            </a:solidFill>
            <a:prstDash val="solid"/>
          </a:ln>
        </p:spPr>
      </p:sp>
      <p:sp>
        <p:nvSpPr>
          <p:cNvPr id="21" name="Texte 26"/>
          <p:cNvSpPr txBox="1"/>
          <p:nvPr/>
        </p:nvSpPr>
        <p:spPr>
          <a:xfrm>
            <a:off x="5074920" y="1371600"/>
            <a:ext cx="329184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OBJECTIFS DU SYSTÈME</a:t>
            </a:r>
            <a:endParaRPr lang="en-US" sz="1200" dirty="0"/>
          </a:p>
        </p:txBody>
      </p:sp>
      <p:sp>
        <p:nvSpPr>
          <p:cNvPr id="22" name="Texte 27"/>
          <p:cNvSpPr txBox="1"/>
          <p:nvPr/>
        </p:nvSpPr>
        <p:spPr>
          <a:xfrm>
            <a:off x="5074920" y="1783080"/>
            <a:ext cx="3337560" cy="502920"/>
          </a:xfrm>
          <a:prstGeom prst="rect">
            <a:avLst/>
          </a:prstGeom>
          <a:noFill/>
          <a:ln/>
        </p:spPr>
        <p:txBody>
          <a:bodyPr wrap="square" lIns="0" tIns="0" rIns="0" bIns="0" rtlCol="0" anchor="t"/>
          <a:lstStyle/>
          <a:p>
            <a:pPr marL="0" indent="0">
              <a:buNone/>
            </a:pPr>
            <a:r>
              <a:rPr lang="en-US" sz="1400" b="1" dirty="0">
                <a:solidFill>
                  <a:schemeClr val="accent1"/>
                </a:solidFill>
              </a:rPr>
              <a:t>Centralisation</a:t>
            </a:r>
            <a:endParaRPr lang="en-US" sz="1400" dirty="0"/>
          </a:p>
          <a:p>
            <a:pPr marL="0" indent="0">
              <a:buNone/>
            </a:pPr>
            <a:r>
              <a:rPr lang="en-US" sz="1400" dirty="0">
                <a:solidFill>
                  <a:schemeClr val="bg1"/>
                </a:solidFill>
              </a:rPr>
              <a:t>Une plateforme sécurisée unique</a:t>
            </a:r>
            <a:endParaRPr lang="en-US" sz="1400" dirty="0"/>
          </a:p>
        </p:txBody>
      </p:sp>
      <p:sp>
        <p:nvSpPr>
          <p:cNvPr id="23" name="Texte 28"/>
          <p:cNvSpPr txBox="1"/>
          <p:nvPr/>
        </p:nvSpPr>
        <p:spPr>
          <a:xfrm>
            <a:off x="5074920" y="2459736"/>
            <a:ext cx="3337560" cy="502920"/>
          </a:xfrm>
          <a:prstGeom prst="rect">
            <a:avLst/>
          </a:prstGeom>
          <a:noFill/>
          <a:ln/>
        </p:spPr>
        <p:txBody>
          <a:bodyPr wrap="square" lIns="0" tIns="0" rIns="0" bIns="0" rtlCol="0" anchor="t"/>
          <a:lstStyle/>
          <a:p>
            <a:pPr marL="0" indent="0">
              <a:buNone/>
            </a:pPr>
            <a:r>
              <a:rPr lang="en-US" sz="1400" b="1" dirty="0">
                <a:solidFill>
                  <a:schemeClr val="accent1"/>
                </a:solidFill>
              </a:rPr>
              <a:t>Traçabilité</a:t>
            </a:r>
            <a:endParaRPr lang="en-US" sz="1400" dirty="0"/>
          </a:p>
          <a:p>
            <a:pPr marL="0" indent="0">
              <a:buNone/>
            </a:pPr>
            <a:r>
              <a:rPr lang="en-US" sz="1400" dirty="0">
                <a:solidFill>
                  <a:schemeClr val="bg1"/>
                </a:solidFill>
              </a:rPr>
              <a:t>Dates, historique, procès-verbaux</a:t>
            </a:r>
            <a:endParaRPr lang="en-US" sz="1400" dirty="0"/>
          </a:p>
        </p:txBody>
      </p:sp>
      <p:sp>
        <p:nvSpPr>
          <p:cNvPr id="24" name="Texte 29"/>
          <p:cNvSpPr txBox="1"/>
          <p:nvPr/>
        </p:nvSpPr>
        <p:spPr>
          <a:xfrm>
            <a:off x="5074920" y="3136392"/>
            <a:ext cx="3337560" cy="502920"/>
          </a:xfrm>
          <a:prstGeom prst="rect">
            <a:avLst/>
          </a:prstGeom>
          <a:noFill/>
          <a:ln/>
        </p:spPr>
        <p:txBody>
          <a:bodyPr wrap="square" lIns="0" tIns="0" rIns="0" bIns="0" rtlCol="0" anchor="t"/>
          <a:lstStyle/>
          <a:p>
            <a:pPr marL="0" indent="0">
              <a:buNone/>
            </a:pPr>
            <a:r>
              <a:rPr lang="en-US" sz="1400" b="1" dirty="0">
                <a:solidFill>
                  <a:schemeClr val="accent1"/>
                </a:solidFill>
              </a:rPr>
              <a:t>Automatisation</a:t>
            </a:r>
            <a:endParaRPr lang="en-US" sz="1400" dirty="0"/>
          </a:p>
          <a:p>
            <a:pPr marL="0" indent="0">
              <a:buNone/>
            </a:pPr>
            <a:r>
              <a:rPr lang="en-US" sz="1400" dirty="0">
                <a:solidFill>
                  <a:schemeClr val="bg1"/>
                </a:solidFill>
              </a:rPr>
              <a:t>Rapport annuel généré en un clic</a:t>
            </a:r>
            <a:endParaRPr lang="en-US" sz="1400" dirty="0"/>
          </a:p>
        </p:txBody>
      </p:sp>
      <p:sp>
        <p:nvSpPr>
          <p:cNvPr id="25" name="Texte 30"/>
          <p:cNvSpPr txBox="1"/>
          <p:nvPr/>
        </p:nvSpPr>
        <p:spPr>
          <a:xfrm>
            <a:off x="5074920" y="3813048"/>
            <a:ext cx="3337560" cy="502920"/>
          </a:xfrm>
          <a:prstGeom prst="rect">
            <a:avLst/>
          </a:prstGeom>
          <a:noFill/>
          <a:ln/>
        </p:spPr>
        <p:txBody>
          <a:bodyPr wrap="square" lIns="0" tIns="0" rIns="0" bIns="0" rtlCol="0" anchor="t"/>
          <a:lstStyle/>
          <a:p>
            <a:pPr marL="0" indent="0">
              <a:buNone/>
            </a:pPr>
            <a:r>
              <a:rPr lang="en-US" sz="1400" b="1" dirty="0">
                <a:solidFill>
                  <a:schemeClr val="accent1"/>
                </a:solidFill>
              </a:rPr>
              <a:t>Mémoire institutionnelle</a:t>
            </a:r>
            <a:endParaRPr lang="en-US" sz="1400" dirty="0"/>
          </a:p>
          <a:p>
            <a:pPr marL="0" indent="0">
              <a:buNone/>
            </a:pPr>
            <a:r>
              <a:rPr lang="en-US" sz="1400" dirty="0">
                <a:solidFill>
                  <a:schemeClr val="bg1"/>
                </a:solidFill>
              </a:rPr>
              <a:t>Archives des membres et documents</a:t>
            </a:r>
            <a:endParaRPr lang="en-US" sz="1400" dirty="0"/>
          </a:p>
        </p:txBody>
      </p:sp>
      <p:sp>
        <p:nvSpPr>
          <p:cNvPr id="26"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Besoins et acteurs</a:t>
            </a:r>
            <a:endParaRPr lang="en-US" sz="3600" dirty="0"/>
          </a:p>
        </p:txBody>
      </p:sp>
      <p:sp>
        <p:nvSpPr>
          <p:cNvPr id="3" name="Carte besoin 31"/>
          <p:cNvSpPr/>
          <p:nvPr/>
        </p:nvSpPr>
        <p:spPr>
          <a:xfrm>
            <a:off x="457200" y="1188720"/>
            <a:ext cx="2286000" cy="1645920"/>
          </a:xfrm>
          <a:prstGeom prst="roundRect">
            <a:avLst>
              <a:gd name="adj" fmla="val 4444"/>
            </a:avLst>
          </a:prstGeom>
          <a:solidFill>
            <a:schemeClr val="bg2"/>
          </a:solidFill>
          <a:ln w="12700">
            <a:solidFill>
              <a:schemeClr val="bg2"/>
            </a:solidFill>
            <a:prstDash val="solid"/>
          </a:ln>
        </p:spPr>
      </p:sp>
      <p:sp>
        <p:nvSpPr>
          <p:cNvPr id="4" name="Pastille 32"/>
          <p:cNvSpPr/>
          <p:nvPr/>
        </p:nvSpPr>
        <p:spPr>
          <a:xfrm>
            <a:off x="640080" y="1353312"/>
            <a:ext cx="457200" cy="457200"/>
          </a:xfrm>
          <a:prstGeom prst="ellipse">
            <a:avLst/>
          </a:prstGeom>
          <a:solidFill>
            <a:schemeClr val="tx1"/>
          </a:solidFill>
          <a:ln w="12700">
            <a:solidFill>
              <a:schemeClr val="tx1"/>
            </a:solidFill>
            <a:prstDash val="solid"/>
          </a:ln>
        </p:spPr>
      </p:sp>
      <p:pic>
        <p:nvPicPr>
          <p:cNvPr id="5" name="Icône 33" descr="icône"/>
          <p:cNvPicPr>
            <a:picLocks noChangeAspect="1"/>
          </p:cNvPicPr>
          <p:nvPr/>
        </p:nvPicPr>
        <p:blipFill>
          <a:blip r:embed="rId3"/>
          <a:stretch>
            <a:fillRect/>
          </a:stretch>
        </p:blipFill>
        <p:spPr>
          <a:xfrm>
            <a:off x="754380" y="1467612"/>
            <a:ext cx="228600" cy="228600"/>
          </a:xfrm>
          <a:prstGeom prst="rect">
            <a:avLst/>
          </a:prstGeom>
        </p:spPr>
      </p:pic>
      <p:sp>
        <p:nvSpPr>
          <p:cNvPr id="6" name="Texte 34"/>
          <p:cNvSpPr txBox="1"/>
          <p:nvPr/>
        </p:nvSpPr>
        <p:spPr>
          <a:xfrm>
            <a:off x="640080" y="1920240"/>
            <a:ext cx="1920240" cy="256032"/>
          </a:xfrm>
          <a:prstGeom prst="rect">
            <a:avLst/>
          </a:prstGeom>
          <a:noFill/>
          <a:ln/>
        </p:spPr>
        <p:txBody>
          <a:bodyPr wrap="square" lIns="0" tIns="0" rIns="0" bIns="0" rtlCol="0" anchor="t"/>
          <a:lstStyle/>
          <a:p>
            <a:pPr marL="0" indent="0">
              <a:buNone/>
            </a:pPr>
            <a:r>
              <a:rPr lang="en-US" sz="1400" b="1" dirty="0">
                <a:solidFill>
                  <a:schemeClr val="tx1"/>
                </a:solidFill>
              </a:rPr>
              <a:t>Gouvernance</a:t>
            </a:r>
            <a:endParaRPr lang="en-US" sz="1400" dirty="0"/>
          </a:p>
        </p:txBody>
      </p:sp>
      <p:sp>
        <p:nvSpPr>
          <p:cNvPr id="7" name="Texte 35"/>
          <p:cNvSpPr txBox="1"/>
          <p:nvPr/>
        </p:nvSpPr>
        <p:spPr>
          <a:xfrm>
            <a:off x="640080" y="2176272"/>
            <a:ext cx="1920240" cy="640080"/>
          </a:xfrm>
          <a:prstGeom prst="rect">
            <a:avLst/>
          </a:prstGeom>
          <a:noFill/>
          <a:ln/>
        </p:spPr>
        <p:txBody>
          <a:bodyPr wrap="square" lIns="0" tIns="0" rIns="0" bIns="0" rtlCol="0" anchor="t"/>
          <a:lstStyle/>
          <a:p>
            <a:pPr marL="0" indent="0">
              <a:buNone/>
            </a:pPr>
            <a:r>
              <a:rPr lang="en-US" sz="1400" dirty="0">
                <a:solidFill>
                  <a:schemeClr val="accent5"/>
                </a:solidFill>
              </a:rPr>
              <a:t>Annuaire CRUD, recherche, archivage</a:t>
            </a:r>
            <a:endParaRPr lang="en-US" sz="1400" dirty="0"/>
          </a:p>
        </p:txBody>
      </p:sp>
      <p:sp>
        <p:nvSpPr>
          <p:cNvPr id="8" name="Carte besoin 36"/>
          <p:cNvSpPr/>
          <p:nvPr/>
        </p:nvSpPr>
        <p:spPr>
          <a:xfrm>
            <a:off x="2926080" y="1188720"/>
            <a:ext cx="2286000" cy="1645920"/>
          </a:xfrm>
          <a:prstGeom prst="roundRect">
            <a:avLst>
              <a:gd name="adj" fmla="val 4444"/>
            </a:avLst>
          </a:prstGeom>
          <a:solidFill>
            <a:schemeClr val="bg2"/>
          </a:solidFill>
          <a:ln w="12700">
            <a:solidFill>
              <a:schemeClr val="bg2"/>
            </a:solidFill>
            <a:prstDash val="solid"/>
          </a:ln>
        </p:spPr>
      </p:sp>
      <p:sp>
        <p:nvSpPr>
          <p:cNvPr id="9" name="Pastille 37"/>
          <p:cNvSpPr/>
          <p:nvPr/>
        </p:nvSpPr>
        <p:spPr>
          <a:xfrm>
            <a:off x="3108960" y="1353312"/>
            <a:ext cx="457200" cy="457200"/>
          </a:xfrm>
          <a:prstGeom prst="ellipse">
            <a:avLst/>
          </a:prstGeom>
          <a:solidFill>
            <a:schemeClr val="tx1"/>
          </a:solidFill>
          <a:ln w="12700">
            <a:solidFill>
              <a:schemeClr val="tx1"/>
            </a:solidFill>
            <a:prstDash val="solid"/>
          </a:ln>
        </p:spPr>
      </p:sp>
      <p:pic>
        <p:nvPicPr>
          <p:cNvPr id="10" name="Icône 38" descr="icône"/>
          <p:cNvPicPr>
            <a:picLocks noChangeAspect="1"/>
          </p:cNvPicPr>
          <p:nvPr/>
        </p:nvPicPr>
        <p:blipFill>
          <a:blip r:embed="rId4"/>
          <a:stretch>
            <a:fillRect/>
          </a:stretch>
        </p:blipFill>
        <p:spPr>
          <a:xfrm>
            <a:off x="3223260" y="1467612"/>
            <a:ext cx="228600" cy="228600"/>
          </a:xfrm>
          <a:prstGeom prst="rect">
            <a:avLst/>
          </a:prstGeom>
        </p:spPr>
      </p:pic>
      <p:sp>
        <p:nvSpPr>
          <p:cNvPr id="11" name="Texte 39"/>
          <p:cNvSpPr txBox="1"/>
          <p:nvPr/>
        </p:nvSpPr>
        <p:spPr>
          <a:xfrm>
            <a:off x="3108960" y="1920240"/>
            <a:ext cx="1920240" cy="256032"/>
          </a:xfrm>
          <a:prstGeom prst="rect">
            <a:avLst/>
          </a:prstGeom>
          <a:noFill/>
          <a:ln/>
        </p:spPr>
        <p:txBody>
          <a:bodyPr wrap="square" lIns="0" tIns="0" rIns="0" bIns="0" rtlCol="0" anchor="t"/>
          <a:lstStyle/>
          <a:p>
            <a:pPr marL="0" indent="0">
              <a:buNone/>
            </a:pPr>
            <a:r>
              <a:rPr lang="en-US" sz="1400" b="1" dirty="0">
                <a:solidFill>
                  <a:schemeClr val="tx1"/>
                </a:solidFill>
              </a:rPr>
              <a:t>Scientifique</a:t>
            </a:r>
            <a:endParaRPr lang="en-US" sz="1400" dirty="0"/>
          </a:p>
        </p:txBody>
      </p:sp>
      <p:sp>
        <p:nvSpPr>
          <p:cNvPr id="12" name="Texte 40"/>
          <p:cNvSpPr txBox="1"/>
          <p:nvPr/>
        </p:nvSpPr>
        <p:spPr>
          <a:xfrm>
            <a:off x="3108960" y="2176272"/>
            <a:ext cx="1920240" cy="640080"/>
          </a:xfrm>
          <a:prstGeom prst="rect">
            <a:avLst/>
          </a:prstGeom>
          <a:noFill/>
          <a:ln/>
        </p:spPr>
        <p:txBody>
          <a:bodyPr wrap="square" lIns="0" tIns="0" rIns="0" bIns="0" rtlCol="0" anchor="t"/>
          <a:lstStyle/>
          <a:p>
            <a:pPr marL="0" indent="0">
              <a:buNone/>
            </a:pPr>
            <a:r>
              <a:rPr lang="en-US" sz="1400" dirty="0">
                <a:solidFill>
                  <a:schemeClr val="accent5"/>
                </a:solidFill>
              </a:rPr>
              <a:t>Publications, événements, calendrier</a:t>
            </a:r>
            <a:endParaRPr lang="en-US" sz="1400" dirty="0"/>
          </a:p>
        </p:txBody>
      </p:sp>
      <p:sp>
        <p:nvSpPr>
          <p:cNvPr id="13" name="Carte besoin 41"/>
          <p:cNvSpPr/>
          <p:nvPr/>
        </p:nvSpPr>
        <p:spPr>
          <a:xfrm>
            <a:off x="457200" y="2926080"/>
            <a:ext cx="2286000" cy="1645920"/>
          </a:xfrm>
          <a:prstGeom prst="roundRect">
            <a:avLst>
              <a:gd name="adj" fmla="val 4444"/>
            </a:avLst>
          </a:prstGeom>
          <a:solidFill>
            <a:schemeClr val="bg2"/>
          </a:solidFill>
          <a:ln w="12700">
            <a:solidFill>
              <a:schemeClr val="bg2"/>
            </a:solidFill>
            <a:prstDash val="solid"/>
          </a:ln>
        </p:spPr>
      </p:sp>
      <p:sp>
        <p:nvSpPr>
          <p:cNvPr id="14" name="Pastille 42"/>
          <p:cNvSpPr/>
          <p:nvPr/>
        </p:nvSpPr>
        <p:spPr>
          <a:xfrm>
            <a:off x="640080" y="3090672"/>
            <a:ext cx="457200" cy="457200"/>
          </a:xfrm>
          <a:prstGeom prst="ellipse">
            <a:avLst/>
          </a:prstGeom>
          <a:solidFill>
            <a:schemeClr val="tx1"/>
          </a:solidFill>
          <a:ln w="12700">
            <a:solidFill>
              <a:schemeClr val="tx1"/>
            </a:solidFill>
            <a:prstDash val="solid"/>
          </a:ln>
        </p:spPr>
      </p:sp>
      <p:pic>
        <p:nvPicPr>
          <p:cNvPr id="15" name="Icône 43" descr="icône"/>
          <p:cNvPicPr>
            <a:picLocks noChangeAspect="1"/>
          </p:cNvPicPr>
          <p:nvPr/>
        </p:nvPicPr>
        <p:blipFill>
          <a:blip r:embed="rId5"/>
          <a:stretch>
            <a:fillRect/>
          </a:stretch>
        </p:blipFill>
        <p:spPr>
          <a:xfrm>
            <a:off x="754380" y="3204972"/>
            <a:ext cx="228600" cy="228600"/>
          </a:xfrm>
          <a:prstGeom prst="rect">
            <a:avLst/>
          </a:prstGeom>
        </p:spPr>
      </p:pic>
      <p:sp>
        <p:nvSpPr>
          <p:cNvPr id="16" name="Texte 44"/>
          <p:cNvSpPr txBox="1"/>
          <p:nvPr/>
        </p:nvSpPr>
        <p:spPr>
          <a:xfrm>
            <a:off x="640080" y="3657600"/>
            <a:ext cx="1920240" cy="256032"/>
          </a:xfrm>
          <a:prstGeom prst="rect">
            <a:avLst/>
          </a:prstGeom>
          <a:noFill/>
          <a:ln/>
        </p:spPr>
        <p:txBody>
          <a:bodyPr wrap="square" lIns="0" tIns="0" rIns="0" bIns="0" rtlCol="0" anchor="t"/>
          <a:lstStyle/>
          <a:p>
            <a:pPr marL="0" indent="0">
              <a:buNone/>
            </a:pPr>
            <a:r>
              <a:rPr lang="en-US" sz="1400" b="1" dirty="0">
                <a:solidFill>
                  <a:schemeClr val="tx1"/>
                </a:solidFill>
              </a:rPr>
              <a:t>Administration</a:t>
            </a:r>
            <a:endParaRPr lang="en-US" sz="1400" dirty="0"/>
          </a:p>
        </p:txBody>
      </p:sp>
      <p:sp>
        <p:nvSpPr>
          <p:cNvPr id="17" name="Texte 45"/>
          <p:cNvSpPr txBox="1"/>
          <p:nvPr/>
        </p:nvSpPr>
        <p:spPr>
          <a:xfrm>
            <a:off x="640080" y="3913632"/>
            <a:ext cx="1920240" cy="640080"/>
          </a:xfrm>
          <a:prstGeom prst="rect">
            <a:avLst/>
          </a:prstGeom>
          <a:noFill/>
          <a:ln/>
        </p:spPr>
        <p:txBody>
          <a:bodyPr wrap="square" lIns="0" tIns="0" rIns="0" bIns="0" rtlCol="0" anchor="t"/>
          <a:lstStyle/>
          <a:p>
            <a:pPr marL="0" indent="0">
              <a:buNone/>
            </a:pPr>
            <a:r>
              <a:rPr lang="en-US" sz="1400" dirty="0">
                <a:solidFill>
                  <a:schemeClr val="accent5"/>
                </a:solidFill>
              </a:rPr>
              <a:t>Matériel, PV, conventions, documents</a:t>
            </a:r>
            <a:endParaRPr lang="en-US" sz="1400" dirty="0"/>
          </a:p>
        </p:txBody>
      </p:sp>
      <p:sp>
        <p:nvSpPr>
          <p:cNvPr id="18" name="Carte besoin 46"/>
          <p:cNvSpPr/>
          <p:nvPr/>
        </p:nvSpPr>
        <p:spPr>
          <a:xfrm>
            <a:off x="2926080" y="2926080"/>
            <a:ext cx="2286000" cy="1645920"/>
          </a:xfrm>
          <a:prstGeom prst="roundRect">
            <a:avLst>
              <a:gd name="adj" fmla="val 4444"/>
            </a:avLst>
          </a:prstGeom>
          <a:solidFill>
            <a:schemeClr val="bg2"/>
          </a:solidFill>
          <a:ln w="12700">
            <a:solidFill>
              <a:schemeClr val="bg2"/>
            </a:solidFill>
            <a:prstDash val="solid"/>
          </a:ln>
        </p:spPr>
      </p:sp>
      <p:sp>
        <p:nvSpPr>
          <p:cNvPr id="19" name="Pastille 47"/>
          <p:cNvSpPr/>
          <p:nvPr/>
        </p:nvSpPr>
        <p:spPr>
          <a:xfrm>
            <a:off x="3108960" y="3090672"/>
            <a:ext cx="457200" cy="457200"/>
          </a:xfrm>
          <a:prstGeom prst="ellipse">
            <a:avLst/>
          </a:prstGeom>
          <a:solidFill>
            <a:schemeClr val="tx1"/>
          </a:solidFill>
          <a:ln w="12700">
            <a:solidFill>
              <a:schemeClr val="tx1"/>
            </a:solidFill>
            <a:prstDash val="solid"/>
          </a:ln>
        </p:spPr>
      </p:sp>
      <p:pic>
        <p:nvPicPr>
          <p:cNvPr id="20" name="Icône 48" descr="icône"/>
          <p:cNvPicPr>
            <a:picLocks noChangeAspect="1"/>
          </p:cNvPicPr>
          <p:nvPr/>
        </p:nvPicPr>
        <p:blipFill>
          <a:blip r:embed="rId6"/>
          <a:stretch>
            <a:fillRect/>
          </a:stretch>
        </p:blipFill>
        <p:spPr>
          <a:xfrm>
            <a:off x="3223260" y="3204972"/>
            <a:ext cx="228600" cy="228600"/>
          </a:xfrm>
          <a:prstGeom prst="rect">
            <a:avLst/>
          </a:prstGeom>
        </p:spPr>
      </p:pic>
      <p:sp>
        <p:nvSpPr>
          <p:cNvPr id="21" name="Texte 49"/>
          <p:cNvSpPr txBox="1"/>
          <p:nvPr/>
        </p:nvSpPr>
        <p:spPr>
          <a:xfrm>
            <a:off x="3108960" y="3657600"/>
            <a:ext cx="1920240" cy="256032"/>
          </a:xfrm>
          <a:prstGeom prst="rect">
            <a:avLst/>
          </a:prstGeom>
          <a:noFill/>
          <a:ln/>
        </p:spPr>
        <p:txBody>
          <a:bodyPr wrap="square" lIns="0" tIns="0" rIns="0" bIns="0" rtlCol="0" anchor="t"/>
          <a:lstStyle/>
          <a:p>
            <a:pPr marL="0" indent="0">
              <a:buNone/>
            </a:pPr>
            <a:r>
              <a:rPr lang="en-US" sz="1400" b="1" dirty="0">
                <a:solidFill>
                  <a:schemeClr val="tx1"/>
                </a:solidFill>
              </a:rPr>
              <a:t>Communication</a:t>
            </a:r>
            <a:endParaRPr lang="en-US" sz="1400" dirty="0"/>
          </a:p>
        </p:txBody>
      </p:sp>
      <p:sp>
        <p:nvSpPr>
          <p:cNvPr id="22" name="Texte 50"/>
          <p:cNvSpPr txBox="1"/>
          <p:nvPr/>
        </p:nvSpPr>
        <p:spPr>
          <a:xfrm>
            <a:off x="3108960" y="3913632"/>
            <a:ext cx="1920240" cy="640080"/>
          </a:xfrm>
          <a:prstGeom prst="rect">
            <a:avLst/>
          </a:prstGeom>
          <a:noFill/>
          <a:ln/>
        </p:spPr>
        <p:txBody>
          <a:bodyPr wrap="square" lIns="0" tIns="0" rIns="0" bIns="0" rtlCol="0" anchor="t"/>
          <a:lstStyle/>
          <a:p>
            <a:pPr marL="0" indent="0">
              <a:buNone/>
            </a:pPr>
            <a:r>
              <a:rPr lang="en-US" sz="1400" dirty="0">
                <a:solidFill>
                  <a:schemeClr val="accent5"/>
                </a:solidFill>
              </a:rPr>
              <a:t>Messages, notifications, rapport annuel</a:t>
            </a:r>
            <a:endParaRPr lang="en-US" sz="1400" dirty="0"/>
          </a:p>
        </p:txBody>
      </p:sp>
      <p:sp>
        <p:nvSpPr>
          <p:cNvPr id="23" name="Cadre capture 51"/>
          <p:cNvSpPr/>
          <p:nvPr/>
        </p:nvSpPr>
        <p:spPr>
          <a:xfrm>
            <a:off x="5461440" y="1161288"/>
            <a:ext cx="3250320" cy="229514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24" name="Capture 52" descr="Capture d'écran image6.png"/>
          <p:cNvPicPr>
            <a:picLocks noChangeAspect="1"/>
          </p:cNvPicPr>
          <p:nvPr/>
        </p:nvPicPr>
        <p:blipFill>
          <a:blip r:embed="rId7"/>
          <a:stretch>
            <a:fillRect/>
          </a:stretch>
        </p:blipFill>
        <p:spPr>
          <a:xfrm>
            <a:off x="5488872" y="1188720"/>
            <a:ext cx="3195456" cy="2240280"/>
          </a:xfrm>
          <a:prstGeom prst="rect">
            <a:avLst/>
          </a:prstGeom>
        </p:spPr>
      </p:pic>
      <p:sp>
        <p:nvSpPr>
          <p:cNvPr id="25" name="Texte 53"/>
          <p:cNvSpPr txBox="1"/>
          <p:nvPr/>
        </p:nvSpPr>
        <p:spPr>
          <a:xfrm>
            <a:off x="5486400" y="3520440"/>
            <a:ext cx="3200400" cy="228600"/>
          </a:xfrm>
          <a:prstGeom prst="rect">
            <a:avLst/>
          </a:prstGeom>
          <a:noFill/>
          <a:ln/>
        </p:spPr>
        <p:txBody>
          <a:bodyPr wrap="square" lIns="0" tIns="0" rIns="0" bIns="0" rtlCol="0" anchor="t"/>
          <a:lstStyle/>
          <a:p>
            <a:pPr marL="0" indent="0">
              <a:buNone/>
            </a:pPr>
            <a:r>
              <a:rPr lang="en-US" sz="1200" dirty="0">
                <a:solidFill>
                  <a:schemeClr val="accent5"/>
                </a:solidFill>
              </a:rPr>
              <a:t>Diagramme de cas d'utilisation</a:t>
            </a:r>
            <a:endParaRPr lang="en-US" sz="1200" dirty="0"/>
          </a:p>
        </p:txBody>
      </p:sp>
      <p:sp>
        <p:nvSpPr>
          <p:cNvPr id="26" name="Texte 54"/>
          <p:cNvSpPr txBox="1"/>
          <p:nvPr/>
        </p:nvSpPr>
        <p:spPr>
          <a:xfrm>
            <a:off x="5486400" y="3840480"/>
            <a:ext cx="3200400" cy="502920"/>
          </a:xfrm>
          <a:prstGeom prst="rect">
            <a:avLst/>
          </a:prstGeom>
          <a:noFill/>
          <a:ln/>
        </p:spPr>
        <p:txBody>
          <a:bodyPr wrap="square" lIns="0" tIns="0" rIns="0" bIns="0" rtlCol="0" anchor="t"/>
          <a:lstStyle/>
          <a:p>
            <a:pPr marL="0" indent="0">
              <a:buNone/>
            </a:pPr>
            <a:r>
              <a:rPr lang="en-US" sz="1400" b="1" dirty="0">
                <a:solidFill>
                  <a:schemeClr val="tx1"/>
                </a:solidFill>
              </a:rPr>
              <a:t>4 acteurs : </a:t>
            </a:r>
            <a:r>
              <a:rPr lang="en-US" sz="1400" dirty="0">
                <a:solidFill>
                  <a:schemeClr val="tx1"/>
                </a:solidFill>
              </a:rPr>
              <a:t>Visiteur, Candidat, Membre, Direction</a:t>
            </a:r>
            <a:endParaRPr lang="en-US" sz="1400" dirty="0"/>
          </a:p>
        </p:txBody>
      </p:sp>
      <p:sp>
        <p:nvSpPr>
          <p:cNvPr id="2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Conception et architecture</a:t>
            </a:r>
            <a:endParaRPr lang="en-US" sz="3600" dirty="0"/>
          </a:p>
        </p:txBody>
      </p:sp>
      <p:sp>
        <p:nvSpPr>
          <p:cNvPr id="3" name="Cadre capture 55"/>
          <p:cNvSpPr/>
          <p:nvPr/>
        </p:nvSpPr>
        <p:spPr>
          <a:xfrm>
            <a:off x="429768" y="1161288"/>
            <a:ext cx="4622113" cy="275234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4" name="Capture 56" descr="Capture d'écran image5.png"/>
          <p:cNvPicPr>
            <a:picLocks noChangeAspect="1"/>
          </p:cNvPicPr>
          <p:nvPr/>
        </p:nvPicPr>
        <p:blipFill>
          <a:blip r:embed="rId3"/>
          <a:stretch>
            <a:fillRect/>
          </a:stretch>
        </p:blipFill>
        <p:spPr>
          <a:xfrm>
            <a:off x="457200" y="1188720"/>
            <a:ext cx="4567249" cy="2697480"/>
          </a:xfrm>
          <a:prstGeom prst="rect">
            <a:avLst/>
          </a:prstGeom>
        </p:spPr>
      </p:pic>
      <p:sp>
        <p:nvSpPr>
          <p:cNvPr id="5" name="Texte 57"/>
          <p:cNvSpPr txBox="1"/>
          <p:nvPr/>
        </p:nvSpPr>
        <p:spPr>
          <a:xfrm>
            <a:off x="457200" y="4023360"/>
            <a:ext cx="4572000" cy="548640"/>
          </a:xfrm>
          <a:prstGeom prst="rect">
            <a:avLst/>
          </a:prstGeom>
          <a:noFill/>
          <a:ln/>
        </p:spPr>
        <p:txBody>
          <a:bodyPr wrap="square" lIns="0" tIns="0" rIns="0" bIns="0" rtlCol="0" anchor="t"/>
          <a:lstStyle/>
          <a:p>
            <a:pPr marL="0" indent="0">
              <a:buNone/>
            </a:pPr>
            <a:r>
              <a:rPr lang="en-US" sz="1400" b="1" dirty="0">
                <a:solidFill>
                  <a:schemeClr val="tx1"/>
                </a:solidFill>
              </a:rPr>
              <a:t>Relations : </a:t>
            </a:r>
            <a:r>
              <a:rPr lang="en-US" sz="1400" dirty="0">
                <a:solidFill>
                  <a:schemeClr val="tx1"/>
                </a:solidFill>
              </a:rPr>
              <a:t>Utilisateur 1–N Publication et Utilisateur 1–N Matériel (clés étrangères).</a:t>
            </a:r>
            <a:endParaRPr lang="en-US" sz="1400" dirty="0"/>
          </a:p>
        </p:txBody>
      </p:sp>
      <p:sp>
        <p:nvSpPr>
          <p:cNvPr id="6" name="Texte 58"/>
          <p:cNvSpPr txBox="1"/>
          <p:nvPr/>
        </p:nvSpPr>
        <p:spPr>
          <a:xfrm>
            <a:off x="5394960" y="1170432"/>
            <a:ext cx="329184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ARCHITECTURE MVC</a:t>
            </a:r>
            <a:endParaRPr lang="en-US" sz="1200" dirty="0"/>
          </a:p>
        </p:txBody>
      </p:sp>
      <p:sp>
        <p:nvSpPr>
          <p:cNvPr id="7" name="Texte 59"/>
          <p:cNvSpPr txBox="1"/>
          <p:nvPr/>
        </p:nvSpPr>
        <p:spPr>
          <a:xfrm>
            <a:off x="5394960" y="1508760"/>
            <a:ext cx="3291840" cy="502920"/>
          </a:xfrm>
          <a:prstGeom prst="rect">
            <a:avLst/>
          </a:prstGeom>
          <a:noFill/>
          <a:ln/>
        </p:spPr>
        <p:txBody>
          <a:bodyPr wrap="square" lIns="0" tIns="0" rIns="0" bIns="0" rtlCol="0" anchor="t"/>
          <a:lstStyle/>
          <a:p>
            <a:pPr marL="0" indent="0">
              <a:buNone/>
            </a:pPr>
            <a:r>
              <a:rPr lang="en-US" sz="1400" b="1" dirty="0">
                <a:solidFill>
                  <a:schemeClr val="accent2"/>
                </a:solidFill>
              </a:rPr>
              <a:t>Modèle — </a:t>
            </a:r>
            <a:r>
              <a:rPr lang="en-US" sz="1400" dirty="0">
                <a:solidFill>
                  <a:schemeClr val="tx1"/>
                </a:solidFill>
              </a:rPr>
              <a:t>entités JPA (@Entity) liées aux tables MySQL</a:t>
            </a:r>
            <a:endParaRPr lang="en-US" sz="1400" dirty="0"/>
          </a:p>
        </p:txBody>
      </p:sp>
      <p:sp>
        <p:nvSpPr>
          <p:cNvPr id="8" name="Texte 60"/>
          <p:cNvSpPr txBox="1"/>
          <p:nvPr/>
        </p:nvSpPr>
        <p:spPr>
          <a:xfrm>
            <a:off x="5394960" y="2130552"/>
            <a:ext cx="3291840" cy="502920"/>
          </a:xfrm>
          <a:prstGeom prst="rect">
            <a:avLst/>
          </a:prstGeom>
          <a:noFill/>
          <a:ln/>
        </p:spPr>
        <p:txBody>
          <a:bodyPr wrap="square" lIns="0" tIns="0" rIns="0" bIns="0" rtlCol="0" anchor="t"/>
          <a:lstStyle/>
          <a:p>
            <a:pPr marL="0" indent="0">
              <a:buNone/>
            </a:pPr>
            <a:r>
              <a:rPr lang="en-US" sz="1400" b="1" dirty="0">
                <a:solidFill>
                  <a:schemeClr val="accent2"/>
                </a:solidFill>
              </a:rPr>
              <a:t>Vue — </a:t>
            </a:r>
            <a:r>
              <a:rPr lang="en-US" sz="1400" dirty="0">
                <a:solidFill>
                  <a:schemeClr val="tx1"/>
                </a:solidFill>
              </a:rPr>
              <a:t>templates Thymeleaf, HTML dynamique</a:t>
            </a:r>
            <a:endParaRPr lang="en-US" sz="1400" dirty="0"/>
          </a:p>
        </p:txBody>
      </p:sp>
      <p:sp>
        <p:nvSpPr>
          <p:cNvPr id="9" name="Texte 61"/>
          <p:cNvSpPr txBox="1"/>
          <p:nvPr/>
        </p:nvSpPr>
        <p:spPr>
          <a:xfrm>
            <a:off x="5394960" y="2752344"/>
            <a:ext cx="3291840" cy="502920"/>
          </a:xfrm>
          <a:prstGeom prst="rect">
            <a:avLst/>
          </a:prstGeom>
          <a:noFill/>
          <a:ln/>
        </p:spPr>
        <p:txBody>
          <a:bodyPr wrap="square" lIns="0" tIns="0" rIns="0" bIns="0" rtlCol="0" anchor="t"/>
          <a:lstStyle/>
          <a:p>
            <a:pPr marL="0" indent="0">
              <a:buNone/>
            </a:pPr>
            <a:r>
              <a:rPr lang="en-US" sz="1400" b="1" dirty="0">
                <a:solidFill>
                  <a:schemeClr val="accent2"/>
                </a:solidFill>
              </a:rPr>
              <a:t>Contrôleur — </a:t>
            </a:r>
            <a:r>
              <a:rPr lang="en-US" sz="1400" dirty="0">
                <a:solidFill>
                  <a:schemeClr val="tx1"/>
                </a:solidFill>
              </a:rPr>
              <a:t>MainController : requêtes et choix de la vue</a:t>
            </a:r>
            <a:endParaRPr lang="en-US" sz="1400" dirty="0"/>
          </a:p>
        </p:txBody>
      </p:sp>
      <p:sp>
        <p:nvSpPr>
          <p:cNvPr id="10" name="Texte 62"/>
          <p:cNvSpPr txBox="1"/>
          <p:nvPr/>
        </p:nvSpPr>
        <p:spPr>
          <a:xfrm>
            <a:off x="5394960" y="3401568"/>
            <a:ext cx="3291840" cy="256032"/>
          </a:xfrm>
          <a:prstGeom prst="rect">
            <a:avLst/>
          </a:prstGeom>
          <a:noFill/>
          <a:ln/>
        </p:spPr>
        <p:txBody>
          <a:bodyPr wrap="square" lIns="0" tIns="0" rIns="0" bIns="0" rtlCol="0" anchor="t"/>
          <a:lstStyle/>
          <a:p>
            <a:pPr marL="0" indent="0">
              <a:buNone/>
            </a:pPr>
            <a:r>
              <a:rPr lang="en-US" sz="1200" b="1" kern="0" spc="200" dirty="0">
                <a:solidFill>
                  <a:schemeClr val="accent2"/>
                </a:solidFill>
              </a:rPr>
              <a:t>7 ENTITÉS</a:t>
            </a:r>
            <a:endParaRPr lang="en-US" sz="1200" dirty="0"/>
          </a:p>
        </p:txBody>
      </p:sp>
      <p:sp>
        <p:nvSpPr>
          <p:cNvPr id="11" name="Puce entité 63"/>
          <p:cNvSpPr txBox="1"/>
          <p:nvPr/>
        </p:nvSpPr>
        <p:spPr>
          <a:xfrm>
            <a:off x="5394960" y="3703320"/>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Utilisateur</a:t>
            </a:r>
            <a:endParaRPr lang="en-US" sz="1200" dirty="0"/>
          </a:p>
        </p:txBody>
      </p:sp>
      <p:sp>
        <p:nvSpPr>
          <p:cNvPr id="12" name="Puce entité 64"/>
          <p:cNvSpPr txBox="1"/>
          <p:nvPr/>
        </p:nvSpPr>
        <p:spPr>
          <a:xfrm>
            <a:off x="6537960" y="3703320"/>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Publication</a:t>
            </a:r>
            <a:endParaRPr lang="en-US" sz="1200" dirty="0"/>
          </a:p>
        </p:txBody>
      </p:sp>
      <p:sp>
        <p:nvSpPr>
          <p:cNvPr id="13" name="Puce entité 65"/>
          <p:cNvSpPr txBox="1"/>
          <p:nvPr/>
        </p:nvSpPr>
        <p:spPr>
          <a:xfrm>
            <a:off x="7680960" y="3703320"/>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Evenement</a:t>
            </a:r>
            <a:endParaRPr lang="en-US" sz="1200" dirty="0"/>
          </a:p>
        </p:txBody>
      </p:sp>
      <p:sp>
        <p:nvSpPr>
          <p:cNvPr id="14" name="Puce entité 66"/>
          <p:cNvSpPr txBox="1"/>
          <p:nvPr/>
        </p:nvSpPr>
        <p:spPr>
          <a:xfrm>
            <a:off x="5394960" y="4032504"/>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Materiel</a:t>
            </a:r>
            <a:endParaRPr lang="en-US" sz="1200" dirty="0"/>
          </a:p>
        </p:txBody>
      </p:sp>
      <p:sp>
        <p:nvSpPr>
          <p:cNvPr id="15" name="Puce entité 67"/>
          <p:cNvSpPr txBox="1"/>
          <p:nvPr/>
        </p:nvSpPr>
        <p:spPr>
          <a:xfrm>
            <a:off x="6537960" y="4032504"/>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Reunion</a:t>
            </a:r>
            <a:endParaRPr lang="en-US" sz="1200" dirty="0"/>
          </a:p>
        </p:txBody>
      </p:sp>
      <p:sp>
        <p:nvSpPr>
          <p:cNvPr id="16" name="Puce entité 68"/>
          <p:cNvSpPr txBox="1"/>
          <p:nvPr/>
        </p:nvSpPr>
        <p:spPr>
          <a:xfrm>
            <a:off x="7680960" y="4032504"/>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Convention</a:t>
            </a:r>
            <a:endParaRPr lang="en-US" sz="1200" dirty="0"/>
          </a:p>
        </p:txBody>
      </p:sp>
      <p:sp>
        <p:nvSpPr>
          <p:cNvPr id="17" name="Puce entité 69"/>
          <p:cNvSpPr txBox="1"/>
          <p:nvPr/>
        </p:nvSpPr>
        <p:spPr>
          <a:xfrm>
            <a:off x="5394960" y="4361688"/>
            <a:ext cx="1005840" cy="274320"/>
          </a:xfrm>
          <a:prstGeom prst="roundRect">
            <a:avLst>
              <a:gd name="adj" fmla="val 23333"/>
            </a:avLst>
          </a:prstGeom>
          <a:solidFill>
            <a:schemeClr val="bg2"/>
          </a:solidFill>
          <a:ln/>
        </p:spPr>
        <p:txBody>
          <a:bodyPr wrap="square" lIns="0" tIns="0" rIns="0" bIns="0" rtlCol="0" anchor="ctr"/>
          <a:lstStyle/>
          <a:p>
            <a:pPr marL="0" indent="0" algn="ctr">
              <a:buNone/>
            </a:pPr>
            <a:r>
              <a:rPr lang="en-US" sz="1200" b="1" dirty="0">
                <a:solidFill>
                  <a:schemeClr val="tx1"/>
                </a:solidFill>
              </a:rPr>
              <a:t>Notification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Environnement technique</a:t>
            </a:r>
            <a:endParaRPr lang="en-US" sz="3600" dirty="0"/>
          </a:p>
        </p:txBody>
      </p:sp>
      <p:sp>
        <p:nvSpPr>
          <p:cNvPr id="3" name="Tuile techno 70"/>
          <p:cNvSpPr/>
          <p:nvPr/>
        </p:nvSpPr>
        <p:spPr>
          <a:xfrm>
            <a:off x="457200" y="1188720"/>
            <a:ext cx="2331720" cy="1051560"/>
          </a:xfrm>
          <a:prstGeom prst="roundRect">
            <a:avLst>
              <a:gd name="adj" fmla="val 6957"/>
            </a:avLst>
          </a:prstGeom>
          <a:solidFill>
            <a:schemeClr val="bg2"/>
          </a:solidFill>
          <a:ln w="12700">
            <a:solidFill>
              <a:schemeClr val="bg2"/>
            </a:solidFill>
            <a:prstDash val="solid"/>
          </a:ln>
        </p:spPr>
      </p:sp>
      <p:sp>
        <p:nvSpPr>
          <p:cNvPr id="4" name="Pastille 71"/>
          <p:cNvSpPr/>
          <p:nvPr/>
        </p:nvSpPr>
        <p:spPr>
          <a:xfrm>
            <a:off x="594360" y="1490472"/>
            <a:ext cx="457200" cy="457200"/>
          </a:xfrm>
          <a:prstGeom prst="ellipse">
            <a:avLst/>
          </a:prstGeom>
          <a:solidFill>
            <a:schemeClr val="tx1"/>
          </a:solidFill>
          <a:ln w="12700">
            <a:solidFill>
              <a:schemeClr val="tx1"/>
            </a:solidFill>
            <a:prstDash val="solid"/>
          </a:ln>
        </p:spPr>
      </p:sp>
      <p:pic>
        <p:nvPicPr>
          <p:cNvPr id="5" name="Icône 72" descr="icône"/>
          <p:cNvPicPr>
            <a:picLocks noChangeAspect="1"/>
          </p:cNvPicPr>
          <p:nvPr/>
        </p:nvPicPr>
        <p:blipFill>
          <a:blip r:embed="rId3"/>
          <a:stretch>
            <a:fillRect/>
          </a:stretch>
        </p:blipFill>
        <p:spPr>
          <a:xfrm>
            <a:off x="708660" y="1604772"/>
            <a:ext cx="228600" cy="228600"/>
          </a:xfrm>
          <a:prstGeom prst="rect">
            <a:avLst/>
          </a:prstGeom>
        </p:spPr>
      </p:pic>
      <p:sp>
        <p:nvSpPr>
          <p:cNvPr id="6" name="Texte 73"/>
          <p:cNvSpPr txBox="1"/>
          <p:nvPr/>
        </p:nvSpPr>
        <p:spPr>
          <a:xfrm>
            <a:off x="1188720" y="1444752"/>
            <a:ext cx="1554480" cy="256032"/>
          </a:xfrm>
          <a:prstGeom prst="rect">
            <a:avLst/>
          </a:prstGeom>
          <a:noFill/>
          <a:ln/>
        </p:spPr>
        <p:txBody>
          <a:bodyPr wrap="square" lIns="0" tIns="0" rIns="0" bIns="0" rtlCol="0" anchor="t"/>
          <a:lstStyle/>
          <a:p>
            <a:pPr marL="0" indent="0">
              <a:buNone/>
            </a:pPr>
            <a:r>
              <a:rPr lang="en-US" sz="1400" b="1" dirty="0">
                <a:solidFill>
                  <a:schemeClr val="tx1"/>
                </a:solidFill>
              </a:rPr>
              <a:t>Java 17</a:t>
            </a:r>
            <a:endParaRPr lang="en-US" sz="1400" dirty="0"/>
          </a:p>
        </p:txBody>
      </p:sp>
      <p:sp>
        <p:nvSpPr>
          <p:cNvPr id="7" name="Texte 74"/>
          <p:cNvSpPr txBox="1"/>
          <p:nvPr/>
        </p:nvSpPr>
        <p:spPr>
          <a:xfrm>
            <a:off x="1188720" y="1719072"/>
            <a:ext cx="1554480" cy="365760"/>
          </a:xfrm>
          <a:prstGeom prst="rect">
            <a:avLst/>
          </a:prstGeom>
          <a:noFill/>
          <a:ln/>
        </p:spPr>
        <p:txBody>
          <a:bodyPr wrap="square" lIns="0" tIns="0" rIns="0" bIns="0" rtlCol="0" anchor="t"/>
          <a:lstStyle/>
          <a:p>
            <a:pPr marL="0" indent="0">
              <a:buNone/>
            </a:pPr>
            <a:r>
              <a:rPr lang="en-US" sz="1200" dirty="0">
                <a:solidFill>
                  <a:schemeClr val="accent5"/>
                </a:solidFill>
              </a:rPr>
              <a:t>Langage, version LTS</a:t>
            </a:r>
            <a:endParaRPr lang="en-US" sz="1200" dirty="0"/>
          </a:p>
        </p:txBody>
      </p:sp>
      <p:sp>
        <p:nvSpPr>
          <p:cNvPr id="8" name="Tuile techno 75"/>
          <p:cNvSpPr/>
          <p:nvPr/>
        </p:nvSpPr>
        <p:spPr>
          <a:xfrm>
            <a:off x="2926080" y="1188720"/>
            <a:ext cx="2331720" cy="1051560"/>
          </a:xfrm>
          <a:prstGeom prst="roundRect">
            <a:avLst>
              <a:gd name="adj" fmla="val 6957"/>
            </a:avLst>
          </a:prstGeom>
          <a:solidFill>
            <a:schemeClr val="bg2"/>
          </a:solidFill>
          <a:ln w="12700">
            <a:solidFill>
              <a:schemeClr val="bg2"/>
            </a:solidFill>
            <a:prstDash val="solid"/>
          </a:ln>
        </p:spPr>
      </p:sp>
      <p:sp>
        <p:nvSpPr>
          <p:cNvPr id="9" name="Pastille 76"/>
          <p:cNvSpPr/>
          <p:nvPr/>
        </p:nvSpPr>
        <p:spPr>
          <a:xfrm>
            <a:off x="3063240" y="1490472"/>
            <a:ext cx="457200" cy="457200"/>
          </a:xfrm>
          <a:prstGeom prst="ellipse">
            <a:avLst/>
          </a:prstGeom>
          <a:solidFill>
            <a:schemeClr val="tx1"/>
          </a:solidFill>
          <a:ln w="12700">
            <a:solidFill>
              <a:schemeClr val="tx1"/>
            </a:solidFill>
            <a:prstDash val="solid"/>
          </a:ln>
        </p:spPr>
      </p:sp>
      <p:pic>
        <p:nvPicPr>
          <p:cNvPr id="10" name="Icône 77" descr="icône"/>
          <p:cNvPicPr>
            <a:picLocks noChangeAspect="1"/>
          </p:cNvPicPr>
          <p:nvPr/>
        </p:nvPicPr>
        <p:blipFill>
          <a:blip r:embed="rId4"/>
          <a:stretch>
            <a:fillRect/>
          </a:stretch>
        </p:blipFill>
        <p:spPr>
          <a:xfrm>
            <a:off x="3177540" y="1604772"/>
            <a:ext cx="228600" cy="228600"/>
          </a:xfrm>
          <a:prstGeom prst="rect">
            <a:avLst/>
          </a:prstGeom>
        </p:spPr>
      </p:pic>
      <p:sp>
        <p:nvSpPr>
          <p:cNvPr id="11" name="Texte 78"/>
          <p:cNvSpPr txBox="1"/>
          <p:nvPr/>
        </p:nvSpPr>
        <p:spPr>
          <a:xfrm>
            <a:off x="3657600" y="1444752"/>
            <a:ext cx="1554480" cy="256032"/>
          </a:xfrm>
          <a:prstGeom prst="rect">
            <a:avLst/>
          </a:prstGeom>
          <a:noFill/>
          <a:ln/>
        </p:spPr>
        <p:txBody>
          <a:bodyPr wrap="square" lIns="0" tIns="0" rIns="0" bIns="0" rtlCol="0" anchor="t"/>
          <a:lstStyle/>
          <a:p>
            <a:pPr marL="0" indent="0">
              <a:buNone/>
            </a:pPr>
            <a:r>
              <a:rPr lang="en-US" sz="1400" b="1" dirty="0">
                <a:solidFill>
                  <a:schemeClr val="tx1"/>
                </a:solidFill>
              </a:rPr>
              <a:t>Spring Boot 3</a:t>
            </a:r>
            <a:endParaRPr lang="en-US" sz="1400" dirty="0"/>
          </a:p>
        </p:txBody>
      </p:sp>
      <p:sp>
        <p:nvSpPr>
          <p:cNvPr id="12" name="Texte 79"/>
          <p:cNvSpPr txBox="1"/>
          <p:nvPr/>
        </p:nvSpPr>
        <p:spPr>
          <a:xfrm>
            <a:off x="3657600" y="1719072"/>
            <a:ext cx="1554480" cy="365760"/>
          </a:xfrm>
          <a:prstGeom prst="rect">
            <a:avLst/>
          </a:prstGeom>
          <a:noFill/>
          <a:ln/>
        </p:spPr>
        <p:txBody>
          <a:bodyPr wrap="square" lIns="0" tIns="0" rIns="0" bIns="0" rtlCol="0" anchor="t"/>
          <a:lstStyle/>
          <a:p>
            <a:pPr marL="0" indent="0">
              <a:buNone/>
            </a:pPr>
            <a:r>
              <a:rPr lang="en-US" sz="1200" dirty="0">
                <a:solidFill>
                  <a:schemeClr val="accent5"/>
                </a:solidFill>
              </a:rPr>
              <a:t>Framework + Tomcat</a:t>
            </a:r>
            <a:endParaRPr lang="en-US" sz="1200" dirty="0"/>
          </a:p>
        </p:txBody>
      </p:sp>
      <p:sp>
        <p:nvSpPr>
          <p:cNvPr id="13" name="Tuile techno 80"/>
          <p:cNvSpPr/>
          <p:nvPr/>
        </p:nvSpPr>
        <p:spPr>
          <a:xfrm>
            <a:off x="457200" y="2359152"/>
            <a:ext cx="2331720" cy="1051560"/>
          </a:xfrm>
          <a:prstGeom prst="roundRect">
            <a:avLst>
              <a:gd name="adj" fmla="val 6957"/>
            </a:avLst>
          </a:prstGeom>
          <a:solidFill>
            <a:schemeClr val="bg2"/>
          </a:solidFill>
          <a:ln w="12700">
            <a:solidFill>
              <a:schemeClr val="bg2"/>
            </a:solidFill>
            <a:prstDash val="solid"/>
          </a:ln>
        </p:spPr>
      </p:sp>
      <p:sp>
        <p:nvSpPr>
          <p:cNvPr id="14" name="Pastille 81"/>
          <p:cNvSpPr/>
          <p:nvPr/>
        </p:nvSpPr>
        <p:spPr>
          <a:xfrm>
            <a:off x="594360" y="2660904"/>
            <a:ext cx="457200" cy="457200"/>
          </a:xfrm>
          <a:prstGeom prst="ellipse">
            <a:avLst/>
          </a:prstGeom>
          <a:solidFill>
            <a:schemeClr val="tx1"/>
          </a:solidFill>
          <a:ln w="12700">
            <a:solidFill>
              <a:schemeClr val="tx1"/>
            </a:solidFill>
            <a:prstDash val="solid"/>
          </a:ln>
        </p:spPr>
      </p:sp>
      <p:pic>
        <p:nvPicPr>
          <p:cNvPr id="15" name="Icône 82" descr="icône"/>
          <p:cNvPicPr>
            <a:picLocks noChangeAspect="1"/>
          </p:cNvPicPr>
          <p:nvPr/>
        </p:nvPicPr>
        <p:blipFill>
          <a:blip r:embed="rId5"/>
          <a:stretch>
            <a:fillRect/>
          </a:stretch>
        </p:blipFill>
        <p:spPr>
          <a:xfrm>
            <a:off x="708660" y="2775204"/>
            <a:ext cx="228600" cy="228600"/>
          </a:xfrm>
          <a:prstGeom prst="rect">
            <a:avLst/>
          </a:prstGeom>
        </p:spPr>
      </p:pic>
      <p:sp>
        <p:nvSpPr>
          <p:cNvPr id="16" name="Texte 83"/>
          <p:cNvSpPr txBox="1"/>
          <p:nvPr/>
        </p:nvSpPr>
        <p:spPr>
          <a:xfrm>
            <a:off x="1188720" y="2615184"/>
            <a:ext cx="1554480" cy="256032"/>
          </a:xfrm>
          <a:prstGeom prst="rect">
            <a:avLst/>
          </a:prstGeom>
          <a:noFill/>
          <a:ln/>
        </p:spPr>
        <p:txBody>
          <a:bodyPr wrap="square" lIns="0" tIns="0" rIns="0" bIns="0" rtlCol="0" anchor="t"/>
          <a:lstStyle/>
          <a:p>
            <a:pPr marL="0" indent="0">
              <a:buNone/>
            </a:pPr>
            <a:r>
              <a:rPr lang="en-US" sz="1400" b="1" dirty="0">
                <a:solidFill>
                  <a:schemeClr val="tx1"/>
                </a:solidFill>
              </a:rPr>
              <a:t>Spring Data JPA</a:t>
            </a:r>
            <a:endParaRPr lang="en-US" sz="1400" dirty="0"/>
          </a:p>
        </p:txBody>
      </p:sp>
      <p:sp>
        <p:nvSpPr>
          <p:cNvPr id="17" name="Texte 84"/>
          <p:cNvSpPr txBox="1"/>
          <p:nvPr/>
        </p:nvSpPr>
        <p:spPr>
          <a:xfrm>
            <a:off x="1188720" y="2889504"/>
            <a:ext cx="1554480" cy="365760"/>
          </a:xfrm>
          <a:prstGeom prst="rect">
            <a:avLst/>
          </a:prstGeom>
          <a:noFill/>
          <a:ln/>
        </p:spPr>
        <p:txBody>
          <a:bodyPr wrap="square" lIns="0" tIns="0" rIns="0" bIns="0" rtlCol="0" anchor="t"/>
          <a:lstStyle/>
          <a:p>
            <a:pPr marL="0" indent="0">
              <a:buNone/>
            </a:pPr>
            <a:r>
              <a:rPr lang="en-US" sz="1200" dirty="0">
                <a:solidFill>
                  <a:schemeClr val="accent5"/>
                </a:solidFill>
              </a:rPr>
              <a:t>ORM Hibernate</a:t>
            </a:r>
            <a:endParaRPr lang="en-US" sz="1200" dirty="0"/>
          </a:p>
        </p:txBody>
      </p:sp>
      <p:sp>
        <p:nvSpPr>
          <p:cNvPr id="18" name="Tuile techno 85"/>
          <p:cNvSpPr/>
          <p:nvPr/>
        </p:nvSpPr>
        <p:spPr>
          <a:xfrm>
            <a:off x="2926080" y="2359152"/>
            <a:ext cx="2331720" cy="1051560"/>
          </a:xfrm>
          <a:prstGeom prst="roundRect">
            <a:avLst>
              <a:gd name="adj" fmla="val 6957"/>
            </a:avLst>
          </a:prstGeom>
          <a:solidFill>
            <a:schemeClr val="bg2"/>
          </a:solidFill>
          <a:ln w="12700">
            <a:solidFill>
              <a:schemeClr val="bg2"/>
            </a:solidFill>
            <a:prstDash val="solid"/>
          </a:ln>
        </p:spPr>
      </p:sp>
      <p:sp>
        <p:nvSpPr>
          <p:cNvPr id="19" name="Pastille 86"/>
          <p:cNvSpPr/>
          <p:nvPr/>
        </p:nvSpPr>
        <p:spPr>
          <a:xfrm>
            <a:off x="3063240" y="2660904"/>
            <a:ext cx="457200" cy="457200"/>
          </a:xfrm>
          <a:prstGeom prst="ellipse">
            <a:avLst/>
          </a:prstGeom>
          <a:solidFill>
            <a:schemeClr val="tx1"/>
          </a:solidFill>
          <a:ln w="12700">
            <a:solidFill>
              <a:schemeClr val="tx1"/>
            </a:solidFill>
            <a:prstDash val="solid"/>
          </a:ln>
        </p:spPr>
      </p:sp>
      <p:pic>
        <p:nvPicPr>
          <p:cNvPr id="20" name="Icône 87" descr="icône"/>
          <p:cNvPicPr>
            <a:picLocks noChangeAspect="1"/>
          </p:cNvPicPr>
          <p:nvPr/>
        </p:nvPicPr>
        <p:blipFill>
          <a:blip r:embed="rId6"/>
          <a:stretch>
            <a:fillRect/>
          </a:stretch>
        </p:blipFill>
        <p:spPr>
          <a:xfrm>
            <a:off x="3177540" y="2775204"/>
            <a:ext cx="228600" cy="228600"/>
          </a:xfrm>
          <a:prstGeom prst="rect">
            <a:avLst/>
          </a:prstGeom>
        </p:spPr>
      </p:pic>
      <p:sp>
        <p:nvSpPr>
          <p:cNvPr id="21" name="Texte 88"/>
          <p:cNvSpPr txBox="1"/>
          <p:nvPr/>
        </p:nvSpPr>
        <p:spPr>
          <a:xfrm>
            <a:off x="3657600" y="2615184"/>
            <a:ext cx="1554480" cy="256032"/>
          </a:xfrm>
          <a:prstGeom prst="rect">
            <a:avLst/>
          </a:prstGeom>
          <a:noFill/>
          <a:ln/>
        </p:spPr>
        <p:txBody>
          <a:bodyPr wrap="square" lIns="0" tIns="0" rIns="0" bIns="0" rtlCol="0" anchor="t"/>
          <a:lstStyle/>
          <a:p>
            <a:pPr marL="0" indent="0">
              <a:buNone/>
            </a:pPr>
            <a:r>
              <a:rPr lang="en-US" sz="1400" b="1" dirty="0">
                <a:solidFill>
                  <a:schemeClr val="tx1"/>
                </a:solidFill>
              </a:rPr>
              <a:t>Thymeleaf</a:t>
            </a:r>
            <a:endParaRPr lang="en-US" sz="1400" dirty="0"/>
          </a:p>
        </p:txBody>
      </p:sp>
      <p:sp>
        <p:nvSpPr>
          <p:cNvPr id="22" name="Texte 89"/>
          <p:cNvSpPr txBox="1"/>
          <p:nvPr/>
        </p:nvSpPr>
        <p:spPr>
          <a:xfrm>
            <a:off x="3657600" y="2889504"/>
            <a:ext cx="1554480" cy="365760"/>
          </a:xfrm>
          <a:prstGeom prst="rect">
            <a:avLst/>
          </a:prstGeom>
          <a:noFill/>
          <a:ln/>
        </p:spPr>
        <p:txBody>
          <a:bodyPr wrap="square" lIns="0" tIns="0" rIns="0" bIns="0" rtlCol="0" anchor="t"/>
          <a:lstStyle/>
          <a:p>
            <a:pPr marL="0" indent="0">
              <a:buNone/>
            </a:pPr>
            <a:r>
              <a:rPr lang="en-US" sz="1200" dirty="0">
                <a:solidFill>
                  <a:schemeClr val="accent5"/>
                </a:solidFill>
              </a:rPr>
              <a:t>Moteur de templates</a:t>
            </a:r>
            <a:endParaRPr lang="en-US" sz="1200" dirty="0"/>
          </a:p>
        </p:txBody>
      </p:sp>
      <p:sp>
        <p:nvSpPr>
          <p:cNvPr id="23" name="Tuile techno 90"/>
          <p:cNvSpPr/>
          <p:nvPr/>
        </p:nvSpPr>
        <p:spPr>
          <a:xfrm>
            <a:off x="457200" y="3529584"/>
            <a:ext cx="2331720" cy="1051560"/>
          </a:xfrm>
          <a:prstGeom prst="roundRect">
            <a:avLst>
              <a:gd name="adj" fmla="val 6957"/>
            </a:avLst>
          </a:prstGeom>
          <a:solidFill>
            <a:schemeClr val="bg2"/>
          </a:solidFill>
          <a:ln w="12700">
            <a:solidFill>
              <a:schemeClr val="bg2"/>
            </a:solidFill>
            <a:prstDash val="solid"/>
          </a:ln>
        </p:spPr>
      </p:sp>
      <p:sp>
        <p:nvSpPr>
          <p:cNvPr id="24" name="Pastille 91"/>
          <p:cNvSpPr/>
          <p:nvPr/>
        </p:nvSpPr>
        <p:spPr>
          <a:xfrm>
            <a:off x="594360" y="3831336"/>
            <a:ext cx="457200" cy="457200"/>
          </a:xfrm>
          <a:prstGeom prst="ellipse">
            <a:avLst/>
          </a:prstGeom>
          <a:solidFill>
            <a:schemeClr val="tx1"/>
          </a:solidFill>
          <a:ln w="12700">
            <a:solidFill>
              <a:schemeClr val="tx1"/>
            </a:solidFill>
            <a:prstDash val="solid"/>
          </a:ln>
        </p:spPr>
      </p:sp>
      <p:pic>
        <p:nvPicPr>
          <p:cNvPr id="25" name="Icône 92" descr="icône"/>
          <p:cNvPicPr>
            <a:picLocks noChangeAspect="1"/>
          </p:cNvPicPr>
          <p:nvPr/>
        </p:nvPicPr>
        <p:blipFill>
          <a:blip r:embed="rId7"/>
          <a:stretch>
            <a:fillRect/>
          </a:stretch>
        </p:blipFill>
        <p:spPr>
          <a:xfrm>
            <a:off x="708660" y="3945636"/>
            <a:ext cx="228600" cy="228600"/>
          </a:xfrm>
          <a:prstGeom prst="rect">
            <a:avLst/>
          </a:prstGeom>
        </p:spPr>
      </p:pic>
      <p:sp>
        <p:nvSpPr>
          <p:cNvPr id="26" name="Texte 93"/>
          <p:cNvSpPr txBox="1"/>
          <p:nvPr/>
        </p:nvSpPr>
        <p:spPr>
          <a:xfrm>
            <a:off x="1188720" y="3785616"/>
            <a:ext cx="1554480" cy="256032"/>
          </a:xfrm>
          <a:prstGeom prst="rect">
            <a:avLst/>
          </a:prstGeom>
          <a:noFill/>
          <a:ln/>
        </p:spPr>
        <p:txBody>
          <a:bodyPr wrap="square" lIns="0" tIns="0" rIns="0" bIns="0" rtlCol="0" anchor="t"/>
          <a:lstStyle/>
          <a:p>
            <a:pPr marL="0" indent="0">
              <a:buNone/>
            </a:pPr>
            <a:r>
              <a:rPr lang="en-US" sz="1400" b="1" dirty="0">
                <a:solidFill>
                  <a:schemeClr val="tx1"/>
                </a:solidFill>
              </a:rPr>
              <a:t>Bootstrap 5</a:t>
            </a:r>
            <a:endParaRPr lang="en-US" sz="1400" dirty="0"/>
          </a:p>
        </p:txBody>
      </p:sp>
      <p:sp>
        <p:nvSpPr>
          <p:cNvPr id="27" name="Texte 94"/>
          <p:cNvSpPr txBox="1"/>
          <p:nvPr/>
        </p:nvSpPr>
        <p:spPr>
          <a:xfrm>
            <a:off x="1188720" y="4059936"/>
            <a:ext cx="1554480" cy="365760"/>
          </a:xfrm>
          <a:prstGeom prst="rect">
            <a:avLst/>
          </a:prstGeom>
          <a:noFill/>
          <a:ln/>
        </p:spPr>
        <p:txBody>
          <a:bodyPr wrap="square" lIns="0" tIns="0" rIns="0" bIns="0" rtlCol="0" anchor="t"/>
          <a:lstStyle/>
          <a:p>
            <a:pPr marL="0" indent="0">
              <a:buNone/>
            </a:pPr>
            <a:r>
              <a:rPr lang="en-US" sz="1200" dirty="0">
                <a:solidFill>
                  <a:schemeClr val="accent5"/>
                </a:solidFill>
              </a:rPr>
              <a:t>Design + mode sombre</a:t>
            </a:r>
            <a:endParaRPr lang="en-US" sz="1200" dirty="0"/>
          </a:p>
        </p:txBody>
      </p:sp>
      <p:sp>
        <p:nvSpPr>
          <p:cNvPr id="28" name="Tuile techno 95"/>
          <p:cNvSpPr/>
          <p:nvPr/>
        </p:nvSpPr>
        <p:spPr>
          <a:xfrm>
            <a:off x="2926080" y="3529584"/>
            <a:ext cx="2331720" cy="1051560"/>
          </a:xfrm>
          <a:prstGeom prst="roundRect">
            <a:avLst>
              <a:gd name="adj" fmla="val 6957"/>
            </a:avLst>
          </a:prstGeom>
          <a:solidFill>
            <a:schemeClr val="bg2"/>
          </a:solidFill>
          <a:ln w="12700">
            <a:solidFill>
              <a:schemeClr val="bg2"/>
            </a:solidFill>
            <a:prstDash val="solid"/>
          </a:ln>
        </p:spPr>
      </p:sp>
      <p:sp>
        <p:nvSpPr>
          <p:cNvPr id="29" name="Pastille 96"/>
          <p:cNvSpPr/>
          <p:nvPr/>
        </p:nvSpPr>
        <p:spPr>
          <a:xfrm>
            <a:off x="3063240" y="3831336"/>
            <a:ext cx="457200" cy="457200"/>
          </a:xfrm>
          <a:prstGeom prst="ellipse">
            <a:avLst/>
          </a:prstGeom>
          <a:solidFill>
            <a:schemeClr val="tx1"/>
          </a:solidFill>
          <a:ln w="12700">
            <a:solidFill>
              <a:schemeClr val="tx1"/>
            </a:solidFill>
            <a:prstDash val="solid"/>
          </a:ln>
        </p:spPr>
      </p:sp>
      <p:pic>
        <p:nvPicPr>
          <p:cNvPr id="30" name="Icône 97" descr="icône"/>
          <p:cNvPicPr>
            <a:picLocks noChangeAspect="1"/>
          </p:cNvPicPr>
          <p:nvPr/>
        </p:nvPicPr>
        <p:blipFill>
          <a:blip r:embed="rId8"/>
          <a:stretch>
            <a:fillRect/>
          </a:stretch>
        </p:blipFill>
        <p:spPr>
          <a:xfrm>
            <a:off x="3177540" y="3945636"/>
            <a:ext cx="228600" cy="228600"/>
          </a:xfrm>
          <a:prstGeom prst="rect">
            <a:avLst/>
          </a:prstGeom>
        </p:spPr>
      </p:pic>
      <p:sp>
        <p:nvSpPr>
          <p:cNvPr id="31" name="Texte 98"/>
          <p:cNvSpPr txBox="1"/>
          <p:nvPr/>
        </p:nvSpPr>
        <p:spPr>
          <a:xfrm>
            <a:off x="3657600" y="3785616"/>
            <a:ext cx="1554480" cy="256032"/>
          </a:xfrm>
          <a:prstGeom prst="rect">
            <a:avLst/>
          </a:prstGeom>
          <a:noFill/>
          <a:ln/>
        </p:spPr>
        <p:txBody>
          <a:bodyPr wrap="square" lIns="0" tIns="0" rIns="0" bIns="0" rtlCol="0" anchor="t"/>
          <a:lstStyle/>
          <a:p>
            <a:pPr marL="0" indent="0">
              <a:buNone/>
            </a:pPr>
            <a:r>
              <a:rPr lang="en-US" sz="1400" b="1" dirty="0">
                <a:solidFill>
                  <a:schemeClr val="tx1"/>
                </a:solidFill>
              </a:rPr>
              <a:t>MySQL + XAMPP</a:t>
            </a:r>
            <a:endParaRPr lang="en-US" sz="1400" dirty="0"/>
          </a:p>
        </p:txBody>
      </p:sp>
      <p:sp>
        <p:nvSpPr>
          <p:cNvPr id="32" name="Texte 99"/>
          <p:cNvSpPr txBox="1"/>
          <p:nvPr/>
        </p:nvSpPr>
        <p:spPr>
          <a:xfrm>
            <a:off x="3657600" y="4059936"/>
            <a:ext cx="1554480" cy="365760"/>
          </a:xfrm>
          <a:prstGeom prst="rect">
            <a:avLst/>
          </a:prstGeom>
          <a:noFill/>
          <a:ln/>
        </p:spPr>
        <p:txBody>
          <a:bodyPr wrap="square" lIns="0" tIns="0" rIns="0" bIns="0" rtlCol="0" anchor="t"/>
          <a:lstStyle/>
          <a:p>
            <a:pPr marL="0" indent="0">
              <a:buNone/>
            </a:pPr>
            <a:r>
              <a:rPr lang="en-US" sz="1200" dirty="0">
                <a:solidFill>
                  <a:schemeClr val="accent5"/>
                </a:solidFill>
              </a:rPr>
              <a:t>Gestion via phpMyAdmin</a:t>
            </a:r>
            <a:endParaRPr lang="en-US" sz="1200" dirty="0"/>
          </a:p>
        </p:txBody>
      </p:sp>
      <p:sp>
        <p:nvSpPr>
          <p:cNvPr id="33" name="Cadre capture 100"/>
          <p:cNvSpPr/>
          <p:nvPr/>
        </p:nvSpPr>
        <p:spPr>
          <a:xfrm>
            <a:off x="5458968" y="1161288"/>
            <a:ext cx="3255264" cy="1247308"/>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34" name="Capture 101" descr="Capture d'écran image9.png"/>
          <p:cNvPicPr>
            <a:picLocks noChangeAspect="1"/>
          </p:cNvPicPr>
          <p:nvPr/>
        </p:nvPicPr>
        <p:blipFill>
          <a:blip r:embed="rId9"/>
          <a:stretch>
            <a:fillRect/>
          </a:stretch>
        </p:blipFill>
        <p:spPr>
          <a:xfrm>
            <a:off x="5486400" y="1188720"/>
            <a:ext cx="3200400" cy="1192444"/>
          </a:xfrm>
          <a:prstGeom prst="rect">
            <a:avLst/>
          </a:prstGeom>
        </p:spPr>
      </p:pic>
      <p:sp>
        <p:nvSpPr>
          <p:cNvPr id="35" name="Texte 102"/>
          <p:cNvSpPr txBox="1"/>
          <p:nvPr/>
        </p:nvSpPr>
        <p:spPr>
          <a:xfrm>
            <a:off x="5486400" y="2472604"/>
            <a:ext cx="3200400" cy="228600"/>
          </a:xfrm>
          <a:prstGeom prst="rect">
            <a:avLst/>
          </a:prstGeom>
          <a:noFill/>
          <a:ln/>
        </p:spPr>
        <p:txBody>
          <a:bodyPr wrap="square" lIns="0" tIns="0" rIns="0" bIns="0" rtlCol="0" anchor="t"/>
          <a:lstStyle/>
          <a:p>
            <a:pPr marL="0" indent="0">
              <a:buNone/>
            </a:pPr>
            <a:r>
              <a:rPr lang="en-US" sz="1200" dirty="0">
                <a:solidFill>
                  <a:schemeClr val="accent5"/>
                </a:solidFill>
              </a:rPr>
              <a:t>Base lias_db sous phpMyAdmin (XAMPP)</a:t>
            </a:r>
            <a:endParaRPr lang="en-US" sz="1200" dirty="0"/>
          </a:p>
        </p:txBody>
      </p:sp>
      <p:sp>
        <p:nvSpPr>
          <p:cNvPr id="36" name="Cadre capture 103"/>
          <p:cNvSpPr/>
          <p:nvPr/>
        </p:nvSpPr>
        <p:spPr>
          <a:xfrm>
            <a:off x="5458968" y="2807208"/>
            <a:ext cx="3255264" cy="1194043"/>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37" name="Capture 104" descr="Capture d'écran image10.png"/>
          <p:cNvPicPr>
            <a:picLocks noChangeAspect="1"/>
          </p:cNvPicPr>
          <p:nvPr/>
        </p:nvPicPr>
        <p:blipFill>
          <a:blip r:embed="rId10"/>
          <a:stretch>
            <a:fillRect/>
          </a:stretch>
        </p:blipFill>
        <p:spPr>
          <a:xfrm>
            <a:off x="5486400" y="2834640"/>
            <a:ext cx="3200400" cy="1139179"/>
          </a:xfrm>
          <a:prstGeom prst="rect">
            <a:avLst/>
          </a:prstGeom>
        </p:spPr>
      </p:pic>
      <p:sp>
        <p:nvSpPr>
          <p:cNvPr id="38" name="Texte 105"/>
          <p:cNvSpPr txBox="1"/>
          <p:nvPr/>
        </p:nvSpPr>
        <p:spPr>
          <a:xfrm>
            <a:off x="5486400" y="4065259"/>
            <a:ext cx="3200400" cy="228600"/>
          </a:xfrm>
          <a:prstGeom prst="rect">
            <a:avLst/>
          </a:prstGeom>
          <a:noFill/>
          <a:ln/>
        </p:spPr>
        <p:txBody>
          <a:bodyPr wrap="square" lIns="0" tIns="0" rIns="0" bIns="0" rtlCol="0" anchor="t"/>
          <a:lstStyle/>
          <a:p>
            <a:pPr marL="0" indent="0">
              <a:buNone/>
            </a:pPr>
            <a:r>
              <a:rPr lang="en-US" sz="1200" dirty="0">
                <a:solidFill>
                  <a:schemeClr val="accent5"/>
                </a:solidFill>
              </a:rPr>
              <a:t>UtilisateurRepository : CRUD sans SQL</a:t>
            </a:r>
            <a:endParaRPr lang="en-US" sz="1200" dirty="0"/>
          </a:p>
        </p:txBody>
      </p:sp>
      <p:sp>
        <p:nvSpPr>
          <p:cNvPr id="39" name="Texte 106"/>
          <p:cNvSpPr txBox="1"/>
          <p:nvPr/>
        </p:nvSpPr>
        <p:spPr>
          <a:xfrm>
            <a:off x="5486400" y="4343400"/>
            <a:ext cx="3200400" cy="228600"/>
          </a:xfrm>
          <a:prstGeom prst="rect">
            <a:avLst/>
          </a:prstGeom>
          <a:noFill/>
          <a:ln/>
        </p:spPr>
        <p:txBody>
          <a:bodyPr wrap="square" lIns="0" tIns="0" rIns="0" bIns="0" rtlCol="0" anchor="t"/>
          <a:lstStyle/>
          <a:p>
            <a:pPr marL="0" indent="0">
              <a:buNone/>
            </a:pPr>
            <a:r>
              <a:rPr lang="en-US" sz="1200" b="1" dirty="0">
                <a:solidFill>
                  <a:schemeClr val="tx1"/>
                </a:solidFill>
              </a:rPr>
              <a:t>IDE : Visual Studio Code</a:t>
            </a:r>
            <a:endParaRPr lang="en-US" sz="1200" dirty="0"/>
          </a:p>
        </p:txBody>
      </p:sp>
      <p:sp>
        <p:nvSpPr>
          <p:cNvPr id="40"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Sécurité et traçabilité</a:t>
            </a:r>
            <a:endParaRPr lang="en-US" sz="3600" dirty="0"/>
          </a:p>
        </p:txBody>
      </p:sp>
      <p:sp>
        <p:nvSpPr>
          <p:cNvPr id="3" name="Pastille 107"/>
          <p:cNvSpPr/>
          <p:nvPr/>
        </p:nvSpPr>
        <p:spPr>
          <a:xfrm>
            <a:off x="457200" y="1115568"/>
            <a:ext cx="457200" cy="457200"/>
          </a:xfrm>
          <a:prstGeom prst="ellipse">
            <a:avLst/>
          </a:prstGeom>
          <a:solidFill>
            <a:schemeClr val="tx1"/>
          </a:solidFill>
          <a:ln w="12700">
            <a:solidFill>
              <a:schemeClr val="tx1"/>
            </a:solidFill>
            <a:prstDash val="solid"/>
          </a:ln>
        </p:spPr>
      </p:sp>
      <p:pic>
        <p:nvPicPr>
          <p:cNvPr id="4" name="Icône 108" descr="icône"/>
          <p:cNvPicPr>
            <a:picLocks noChangeAspect="1"/>
          </p:cNvPicPr>
          <p:nvPr/>
        </p:nvPicPr>
        <p:blipFill>
          <a:blip r:embed="rId3"/>
          <a:stretch>
            <a:fillRect/>
          </a:stretch>
        </p:blipFill>
        <p:spPr>
          <a:xfrm>
            <a:off x="571500" y="1229868"/>
            <a:ext cx="228600" cy="228600"/>
          </a:xfrm>
          <a:prstGeom prst="rect">
            <a:avLst/>
          </a:prstGeom>
        </p:spPr>
      </p:pic>
      <p:sp>
        <p:nvSpPr>
          <p:cNvPr id="5" name="Texte 109"/>
          <p:cNvSpPr txBox="1"/>
          <p:nvPr/>
        </p:nvSpPr>
        <p:spPr>
          <a:xfrm>
            <a:off x="1051560" y="1188720"/>
            <a:ext cx="3383280" cy="329184"/>
          </a:xfrm>
          <a:prstGeom prst="rect">
            <a:avLst/>
          </a:prstGeom>
          <a:noFill/>
          <a:ln/>
        </p:spPr>
        <p:txBody>
          <a:bodyPr wrap="square" lIns="0" tIns="0" rIns="0" bIns="0" rtlCol="0" anchor="ctr"/>
          <a:lstStyle/>
          <a:p>
            <a:pPr marL="0" indent="0">
              <a:buNone/>
            </a:pPr>
            <a:r>
              <a:rPr lang="en-US" sz="1800" b="1" dirty="0">
                <a:solidFill>
                  <a:schemeClr val="tx1"/>
                </a:solidFill>
              </a:rPr>
              <a:t>Sécurité</a:t>
            </a:r>
            <a:endParaRPr lang="en-US" sz="1800" dirty="0"/>
          </a:p>
        </p:txBody>
      </p:sp>
      <p:sp>
        <p:nvSpPr>
          <p:cNvPr id="6" name="Texte 110"/>
          <p:cNvSpPr txBox="1"/>
          <p:nvPr/>
        </p:nvSpPr>
        <p:spPr>
          <a:xfrm>
            <a:off x="457200" y="1737360"/>
            <a:ext cx="4023360" cy="237744"/>
          </a:xfrm>
          <a:prstGeom prst="rect">
            <a:avLst/>
          </a:prstGeom>
          <a:noFill/>
          <a:ln/>
        </p:spPr>
        <p:txBody>
          <a:bodyPr wrap="square" lIns="0" tIns="0" rIns="0" bIns="0" rtlCol="0" anchor="t"/>
          <a:lstStyle/>
          <a:p>
            <a:pPr marL="0" indent="0">
              <a:buNone/>
            </a:pPr>
            <a:r>
              <a:rPr lang="en-US" sz="1400" b="1" dirty="0">
                <a:solidFill>
                  <a:schemeClr val="accent2"/>
                </a:solidFill>
              </a:rPr>
              <a:t>Sessions HTTP</a:t>
            </a:r>
            <a:endParaRPr lang="en-US" sz="1400" dirty="0"/>
          </a:p>
        </p:txBody>
      </p:sp>
      <p:sp>
        <p:nvSpPr>
          <p:cNvPr id="7" name="Texte 111"/>
          <p:cNvSpPr txBox="1"/>
          <p:nvPr/>
        </p:nvSpPr>
        <p:spPr>
          <a:xfrm>
            <a:off x="457200" y="1984248"/>
            <a:ext cx="4023360" cy="457200"/>
          </a:xfrm>
          <a:prstGeom prst="rect">
            <a:avLst/>
          </a:prstGeom>
          <a:noFill/>
          <a:ln/>
        </p:spPr>
        <p:txBody>
          <a:bodyPr wrap="square" lIns="0" tIns="0" rIns="0" bIns="0" rtlCol="0" anchor="t"/>
          <a:lstStyle/>
          <a:p>
            <a:pPr marL="0" indent="0">
              <a:buNone/>
            </a:pPr>
            <a:r>
              <a:rPr lang="en-US" sz="1400" dirty="0">
                <a:solidFill>
                  <a:schemeClr val="tx1"/>
                </a:solidFill>
              </a:rPr>
              <a:t>À chaque clic, HttpSession vérifie l'utilisateur connecté.</a:t>
            </a:r>
            <a:endParaRPr lang="en-US" sz="1400" dirty="0"/>
          </a:p>
        </p:txBody>
      </p:sp>
      <p:sp>
        <p:nvSpPr>
          <p:cNvPr id="8" name="Bloc code 112"/>
          <p:cNvSpPr/>
          <p:nvPr/>
        </p:nvSpPr>
        <p:spPr>
          <a:xfrm>
            <a:off x="457200" y="2514600"/>
            <a:ext cx="4023360" cy="804672"/>
          </a:xfrm>
          <a:prstGeom prst="roundRect">
            <a:avLst>
              <a:gd name="adj" fmla="val 9091"/>
            </a:avLst>
          </a:prstGeom>
          <a:solidFill>
            <a:schemeClr val="tx1"/>
          </a:solidFill>
          <a:ln w="12700">
            <a:solidFill>
              <a:schemeClr val="tx1"/>
            </a:solidFill>
            <a:prstDash val="solid"/>
          </a:ln>
        </p:spPr>
      </p:sp>
      <p:sp>
        <p:nvSpPr>
          <p:cNvPr id="9" name="Texte 113"/>
          <p:cNvSpPr txBox="1"/>
          <p:nvPr/>
        </p:nvSpPr>
        <p:spPr>
          <a:xfrm>
            <a:off x="640080" y="2606040"/>
            <a:ext cx="3657600" cy="64008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if (session.getAttribute(</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"utilisateurConnecte") == null)</a:t>
            </a:r>
            <a:endParaRPr lang="en-US" sz="1200" dirty="0"/>
          </a:p>
          <a:p>
            <a:pPr marL="0" indent="0">
              <a:buNone/>
            </a:pPr>
            <a:r>
              <a:rPr lang="en-US" sz="1200" dirty="0">
                <a:solidFill>
                  <a:schemeClr val="accent1"/>
                </a:solidFill>
                <a:latin typeface="Courier New" pitchFamily="34" charset="0"/>
                <a:ea typeface="Courier New" pitchFamily="34" charset="-122"/>
                <a:cs typeface="Courier New" pitchFamily="34" charset="-120"/>
              </a:rPr>
              <a:t>  return "redirect:/login";</a:t>
            </a:r>
            <a:endParaRPr lang="en-US" sz="1200" dirty="0"/>
          </a:p>
        </p:txBody>
      </p:sp>
      <p:sp>
        <p:nvSpPr>
          <p:cNvPr id="10" name="Texte 114"/>
          <p:cNvSpPr txBox="1"/>
          <p:nvPr/>
        </p:nvSpPr>
        <p:spPr>
          <a:xfrm>
            <a:off x="457200" y="3520440"/>
            <a:ext cx="4023360" cy="237744"/>
          </a:xfrm>
          <a:prstGeom prst="rect">
            <a:avLst/>
          </a:prstGeom>
          <a:noFill/>
          <a:ln/>
        </p:spPr>
        <p:txBody>
          <a:bodyPr wrap="square" lIns="0" tIns="0" rIns="0" bIns="0" rtlCol="0" anchor="t"/>
          <a:lstStyle/>
          <a:p>
            <a:pPr marL="0" indent="0">
              <a:buNone/>
            </a:pPr>
            <a:r>
              <a:rPr lang="en-US" sz="1400" b="1" dirty="0">
                <a:solidFill>
                  <a:schemeClr val="accent2"/>
                </a:solidFill>
              </a:rPr>
              <a:t>Accès réservé à la Direction</a:t>
            </a:r>
            <a:endParaRPr lang="en-US" sz="1400" dirty="0"/>
          </a:p>
        </p:txBody>
      </p:sp>
      <p:sp>
        <p:nvSpPr>
          <p:cNvPr id="11" name="Texte 115"/>
          <p:cNvSpPr txBox="1"/>
          <p:nvPr/>
        </p:nvSpPr>
        <p:spPr>
          <a:xfrm>
            <a:off x="457200" y="3767328"/>
            <a:ext cx="4023360" cy="777240"/>
          </a:xfrm>
          <a:prstGeom prst="rect">
            <a:avLst/>
          </a:prstGeom>
          <a:noFill/>
          <a:ln/>
        </p:spPr>
        <p:txBody>
          <a:bodyPr wrap="square" lIns="0" tIns="0" rIns="0" bIns="0" rtlCol="0" anchor="t"/>
          <a:lstStyle/>
          <a:p>
            <a:pPr marL="0" indent="0">
              <a:buNone/>
            </a:pPr>
            <a:r>
              <a:rPr lang="en-US" sz="1400" dirty="0">
                <a:solidFill>
                  <a:schemeClr val="tx1"/>
                </a:solidFill>
              </a:rPr>
              <a:t>MainController contrôle l'email : seuls Pr Benabbou et Pr Belangour gèrent membres, matériel et PV.</a:t>
            </a:r>
            <a:endParaRPr lang="en-US" sz="1400" dirty="0"/>
          </a:p>
        </p:txBody>
      </p:sp>
      <p:sp>
        <p:nvSpPr>
          <p:cNvPr id="12" name="Pastille 116"/>
          <p:cNvSpPr/>
          <p:nvPr/>
        </p:nvSpPr>
        <p:spPr>
          <a:xfrm>
            <a:off x="4846320" y="1115568"/>
            <a:ext cx="457200" cy="457200"/>
          </a:xfrm>
          <a:prstGeom prst="ellipse">
            <a:avLst/>
          </a:prstGeom>
          <a:solidFill>
            <a:schemeClr val="tx1"/>
          </a:solidFill>
          <a:ln w="12700">
            <a:solidFill>
              <a:schemeClr val="tx1"/>
            </a:solidFill>
            <a:prstDash val="solid"/>
          </a:ln>
        </p:spPr>
      </p:sp>
      <p:pic>
        <p:nvPicPr>
          <p:cNvPr id="13" name="Icône 117" descr="icône"/>
          <p:cNvPicPr>
            <a:picLocks noChangeAspect="1"/>
          </p:cNvPicPr>
          <p:nvPr/>
        </p:nvPicPr>
        <p:blipFill>
          <a:blip r:embed="rId4"/>
          <a:stretch>
            <a:fillRect/>
          </a:stretch>
        </p:blipFill>
        <p:spPr>
          <a:xfrm>
            <a:off x="4960620" y="1229868"/>
            <a:ext cx="228600" cy="228600"/>
          </a:xfrm>
          <a:prstGeom prst="rect">
            <a:avLst/>
          </a:prstGeom>
        </p:spPr>
      </p:pic>
      <p:sp>
        <p:nvSpPr>
          <p:cNvPr id="14" name="Texte 118"/>
          <p:cNvSpPr txBox="1"/>
          <p:nvPr/>
        </p:nvSpPr>
        <p:spPr>
          <a:xfrm>
            <a:off x="5440680" y="1188720"/>
            <a:ext cx="3246120" cy="329184"/>
          </a:xfrm>
          <a:prstGeom prst="rect">
            <a:avLst/>
          </a:prstGeom>
          <a:noFill/>
          <a:ln/>
        </p:spPr>
        <p:txBody>
          <a:bodyPr wrap="square" lIns="0" tIns="0" rIns="0" bIns="0" rtlCol="0" anchor="ctr"/>
          <a:lstStyle/>
          <a:p>
            <a:pPr marL="0" indent="0">
              <a:buNone/>
            </a:pPr>
            <a:r>
              <a:rPr lang="en-US" sz="1800" b="1" dirty="0">
                <a:solidFill>
                  <a:schemeClr val="tx1"/>
                </a:solidFill>
              </a:rPr>
              <a:t>Notifications automatiques</a:t>
            </a:r>
            <a:endParaRPr lang="en-US" sz="1800" dirty="0"/>
          </a:p>
        </p:txBody>
      </p:sp>
      <p:sp>
        <p:nvSpPr>
          <p:cNvPr id="15" name="Étape 119"/>
          <p:cNvSpPr/>
          <p:nvPr/>
        </p:nvSpPr>
        <p:spPr>
          <a:xfrm>
            <a:off x="4846320" y="1737360"/>
            <a:ext cx="3840480" cy="603504"/>
          </a:xfrm>
          <a:prstGeom prst="roundRect">
            <a:avLst>
              <a:gd name="adj" fmla="val 12121"/>
            </a:avLst>
          </a:prstGeom>
          <a:solidFill>
            <a:schemeClr val="bg2"/>
          </a:solidFill>
          <a:ln w="12700">
            <a:solidFill>
              <a:schemeClr val="bg2"/>
            </a:solidFill>
            <a:prstDash val="solid"/>
          </a:ln>
        </p:spPr>
      </p:sp>
      <p:sp>
        <p:nvSpPr>
          <p:cNvPr id="16" name="Numéro 120"/>
          <p:cNvSpPr txBox="1"/>
          <p:nvPr/>
        </p:nvSpPr>
        <p:spPr>
          <a:xfrm>
            <a:off x="4965192" y="1856232"/>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accent1"/>
                </a:solidFill>
              </a:rPr>
              <a:t>1</a:t>
            </a:r>
            <a:endParaRPr lang="en-US" sz="1400" dirty="0"/>
          </a:p>
        </p:txBody>
      </p:sp>
      <p:sp>
        <p:nvSpPr>
          <p:cNvPr id="17" name="Texte 121"/>
          <p:cNvSpPr txBox="1"/>
          <p:nvPr/>
        </p:nvSpPr>
        <p:spPr>
          <a:xfrm>
            <a:off x="5486400" y="1810512"/>
            <a:ext cx="3063240" cy="457200"/>
          </a:xfrm>
          <a:prstGeom prst="rect">
            <a:avLst/>
          </a:prstGeom>
          <a:noFill/>
          <a:ln/>
        </p:spPr>
        <p:txBody>
          <a:bodyPr wrap="square" lIns="0" tIns="0" rIns="0" bIns="0" rtlCol="0" anchor="ctr"/>
          <a:lstStyle/>
          <a:p>
            <a:pPr marL="0" indent="0">
              <a:buNone/>
            </a:pPr>
            <a:r>
              <a:rPr lang="en-US" sz="1400" dirty="0">
                <a:solidFill>
                  <a:schemeClr val="tx1"/>
                </a:solidFill>
              </a:rPr>
              <a:t>Ajout d'un membre, document ou événement</a:t>
            </a:r>
            <a:endParaRPr lang="en-US" sz="1400" dirty="0"/>
          </a:p>
        </p:txBody>
      </p:sp>
      <p:sp>
        <p:nvSpPr>
          <p:cNvPr id="18" name="Étape 122"/>
          <p:cNvSpPr/>
          <p:nvPr/>
        </p:nvSpPr>
        <p:spPr>
          <a:xfrm>
            <a:off x="4846320" y="2441448"/>
            <a:ext cx="3840480" cy="603504"/>
          </a:xfrm>
          <a:prstGeom prst="roundRect">
            <a:avLst>
              <a:gd name="adj" fmla="val 12121"/>
            </a:avLst>
          </a:prstGeom>
          <a:solidFill>
            <a:schemeClr val="bg2"/>
          </a:solidFill>
          <a:ln w="12700">
            <a:solidFill>
              <a:schemeClr val="bg2"/>
            </a:solidFill>
            <a:prstDash val="solid"/>
          </a:ln>
        </p:spPr>
      </p:sp>
      <p:sp>
        <p:nvSpPr>
          <p:cNvPr id="19" name="Numéro 123"/>
          <p:cNvSpPr txBox="1"/>
          <p:nvPr/>
        </p:nvSpPr>
        <p:spPr>
          <a:xfrm>
            <a:off x="4965192" y="2560320"/>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accent1"/>
                </a:solidFill>
              </a:rPr>
              <a:t>2</a:t>
            </a:r>
            <a:endParaRPr lang="en-US" sz="1400" dirty="0"/>
          </a:p>
        </p:txBody>
      </p:sp>
      <p:sp>
        <p:nvSpPr>
          <p:cNvPr id="20" name="Texte 124"/>
          <p:cNvSpPr txBox="1"/>
          <p:nvPr/>
        </p:nvSpPr>
        <p:spPr>
          <a:xfrm>
            <a:off x="5486400" y="2514600"/>
            <a:ext cx="3063240" cy="457200"/>
          </a:xfrm>
          <a:prstGeom prst="rect">
            <a:avLst/>
          </a:prstGeom>
          <a:noFill/>
          <a:ln/>
        </p:spPr>
        <p:txBody>
          <a:bodyPr wrap="square" lIns="0" tIns="0" rIns="0" bIns="0" rtlCol="0" anchor="ctr"/>
          <a:lstStyle/>
          <a:p>
            <a:pPr marL="0" indent="0">
              <a:buNone/>
            </a:pPr>
            <a:r>
              <a:rPr lang="en-US" sz="1400" dirty="0">
                <a:solidFill>
                  <a:schemeClr val="tx1"/>
                </a:solidFill>
              </a:rPr>
              <a:t>Le contrôleur enregistre l'objet principal</a:t>
            </a:r>
            <a:endParaRPr lang="en-US" sz="1400" dirty="0"/>
          </a:p>
        </p:txBody>
      </p:sp>
      <p:sp>
        <p:nvSpPr>
          <p:cNvPr id="21" name="Étape 125"/>
          <p:cNvSpPr/>
          <p:nvPr/>
        </p:nvSpPr>
        <p:spPr>
          <a:xfrm>
            <a:off x="4846320" y="3145536"/>
            <a:ext cx="3840480" cy="603504"/>
          </a:xfrm>
          <a:prstGeom prst="roundRect">
            <a:avLst>
              <a:gd name="adj" fmla="val 12121"/>
            </a:avLst>
          </a:prstGeom>
          <a:solidFill>
            <a:schemeClr val="bg2"/>
          </a:solidFill>
          <a:ln w="12700">
            <a:solidFill>
              <a:schemeClr val="bg2"/>
            </a:solidFill>
            <a:prstDash val="solid"/>
          </a:ln>
        </p:spPr>
      </p:sp>
      <p:sp>
        <p:nvSpPr>
          <p:cNvPr id="22" name="Numéro 126"/>
          <p:cNvSpPr txBox="1"/>
          <p:nvPr/>
        </p:nvSpPr>
        <p:spPr>
          <a:xfrm>
            <a:off x="4965192" y="3264408"/>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accent1"/>
                </a:solidFill>
              </a:rPr>
              <a:t>3</a:t>
            </a:r>
            <a:endParaRPr lang="en-US" sz="1400" dirty="0"/>
          </a:p>
        </p:txBody>
      </p:sp>
      <p:sp>
        <p:nvSpPr>
          <p:cNvPr id="23" name="Texte 127"/>
          <p:cNvSpPr txBox="1"/>
          <p:nvPr/>
        </p:nvSpPr>
        <p:spPr>
          <a:xfrm>
            <a:off x="5486400" y="3218688"/>
            <a:ext cx="3063240" cy="457200"/>
          </a:xfrm>
          <a:prstGeom prst="rect">
            <a:avLst/>
          </a:prstGeom>
          <a:noFill/>
          <a:ln/>
        </p:spPr>
        <p:txBody>
          <a:bodyPr wrap="square" lIns="0" tIns="0" rIns="0" bIns="0" rtlCol="0" anchor="ctr"/>
          <a:lstStyle/>
          <a:p>
            <a:pPr marL="0" indent="0">
              <a:buNone/>
            </a:pPr>
            <a:r>
              <a:rPr lang="en-US" sz="1400" dirty="0">
                <a:solidFill>
                  <a:schemeClr val="tx1"/>
                </a:solidFill>
              </a:rPr>
              <a:t>Une Notification est générée (message + type)</a:t>
            </a:r>
            <a:endParaRPr lang="en-US" sz="1400" dirty="0"/>
          </a:p>
        </p:txBody>
      </p:sp>
      <p:sp>
        <p:nvSpPr>
          <p:cNvPr id="24" name="Étape 128"/>
          <p:cNvSpPr/>
          <p:nvPr/>
        </p:nvSpPr>
        <p:spPr>
          <a:xfrm>
            <a:off x="4846320" y="3849624"/>
            <a:ext cx="3840480" cy="603504"/>
          </a:xfrm>
          <a:prstGeom prst="roundRect">
            <a:avLst>
              <a:gd name="adj" fmla="val 12121"/>
            </a:avLst>
          </a:prstGeom>
          <a:solidFill>
            <a:schemeClr val="bg2"/>
          </a:solidFill>
          <a:ln w="12700">
            <a:solidFill>
              <a:schemeClr val="bg2"/>
            </a:solidFill>
            <a:prstDash val="solid"/>
          </a:ln>
        </p:spPr>
      </p:sp>
      <p:sp>
        <p:nvSpPr>
          <p:cNvPr id="25" name="Numéro 129"/>
          <p:cNvSpPr txBox="1"/>
          <p:nvPr/>
        </p:nvSpPr>
        <p:spPr>
          <a:xfrm>
            <a:off x="4965192" y="3968496"/>
            <a:ext cx="365760" cy="365760"/>
          </a:xfrm>
          <a:prstGeom prst="ellipse">
            <a:avLst/>
          </a:prstGeom>
          <a:solidFill>
            <a:schemeClr val="tx1"/>
          </a:solidFill>
          <a:ln/>
        </p:spPr>
        <p:txBody>
          <a:bodyPr wrap="square" lIns="0" tIns="0" rIns="0" bIns="0" rtlCol="0" anchor="ctr"/>
          <a:lstStyle/>
          <a:p>
            <a:pPr marL="0" indent="0" algn="ctr">
              <a:buNone/>
            </a:pPr>
            <a:r>
              <a:rPr lang="en-US" sz="1400" b="1" dirty="0">
                <a:solidFill>
                  <a:schemeClr val="accent1"/>
                </a:solidFill>
              </a:rPr>
              <a:t>4</a:t>
            </a:r>
            <a:endParaRPr lang="en-US" sz="1400" dirty="0"/>
          </a:p>
        </p:txBody>
      </p:sp>
      <p:sp>
        <p:nvSpPr>
          <p:cNvPr id="26" name="Texte 130"/>
          <p:cNvSpPr txBox="1"/>
          <p:nvPr/>
        </p:nvSpPr>
        <p:spPr>
          <a:xfrm>
            <a:off x="5486400" y="3922776"/>
            <a:ext cx="3063240" cy="457200"/>
          </a:xfrm>
          <a:prstGeom prst="rect">
            <a:avLst/>
          </a:prstGeom>
          <a:noFill/>
          <a:ln/>
        </p:spPr>
        <p:txBody>
          <a:bodyPr wrap="square" lIns="0" tIns="0" rIns="0" bIns="0" rtlCol="0" anchor="ctr"/>
          <a:lstStyle/>
          <a:p>
            <a:pPr marL="0" indent="0">
              <a:buNone/>
            </a:pPr>
            <a:r>
              <a:rPr lang="en-US" sz="1400" dirty="0">
                <a:solidFill>
                  <a:schemeClr val="tx1"/>
                </a:solidFill>
              </a:rPr>
              <a:t>Historique stocké dans MySQL, consultable</a:t>
            </a:r>
            <a:endParaRPr lang="en-US" sz="1400" dirty="0"/>
          </a:p>
        </p:txBody>
      </p:sp>
      <p:sp>
        <p:nvSpPr>
          <p:cNvPr id="27"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Interface et espace Direction</a:t>
            </a:r>
            <a:endParaRPr lang="en-US" sz="3600" dirty="0"/>
          </a:p>
        </p:txBody>
      </p:sp>
      <p:sp>
        <p:nvSpPr>
          <p:cNvPr id="3" name="Cadre capture 131"/>
          <p:cNvSpPr/>
          <p:nvPr/>
        </p:nvSpPr>
        <p:spPr>
          <a:xfrm>
            <a:off x="429768" y="1161288"/>
            <a:ext cx="4073042" cy="188366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4" name="Capture 132" descr="Capture d'écran /mnt/user-data/uploads/Homa_lias.png"/>
          <p:cNvPicPr>
            <a:picLocks noChangeAspect="1"/>
          </p:cNvPicPr>
          <p:nvPr/>
        </p:nvPicPr>
        <p:blipFill>
          <a:blip r:embed="rId3"/>
          <a:stretch>
            <a:fillRect/>
          </a:stretch>
        </p:blipFill>
        <p:spPr>
          <a:xfrm>
            <a:off x="457200" y="1188720"/>
            <a:ext cx="4018178" cy="1828800"/>
          </a:xfrm>
          <a:prstGeom prst="rect">
            <a:avLst/>
          </a:prstGeom>
        </p:spPr>
      </p:pic>
      <p:sp>
        <p:nvSpPr>
          <p:cNvPr id="5" name="Cadre capture 133"/>
          <p:cNvSpPr/>
          <p:nvPr/>
        </p:nvSpPr>
        <p:spPr>
          <a:xfrm>
            <a:off x="4636008" y="1161288"/>
            <a:ext cx="4020450" cy="188366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6" name="Capture 134" descr="Capture d'écran /mnt/user-data/uploads/Membres_lias.png"/>
          <p:cNvPicPr>
            <a:picLocks noChangeAspect="1"/>
          </p:cNvPicPr>
          <p:nvPr/>
        </p:nvPicPr>
        <p:blipFill>
          <a:blip r:embed="rId4"/>
          <a:stretch>
            <a:fillRect/>
          </a:stretch>
        </p:blipFill>
        <p:spPr>
          <a:xfrm>
            <a:off x="4663440" y="1188720"/>
            <a:ext cx="3965586" cy="1828800"/>
          </a:xfrm>
          <a:prstGeom prst="rect">
            <a:avLst/>
          </a:prstGeom>
        </p:spPr>
      </p:pic>
      <p:sp>
        <p:nvSpPr>
          <p:cNvPr id="7" name="Texte 135"/>
          <p:cNvSpPr txBox="1"/>
          <p:nvPr/>
        </p:nvSpPr>
        <p:spPr>
          <a:xfrm>
            <a:off x="457200" y="3246120"/>
            <a:ext cx="4023360" cy="274320"/>
          </a:xfrm>
          <a:prstGeom prst="rect">
            <a:avLst/>
          </a:prstGeom>
          <a:noFill/>
          <a:ln/>
        </p:spPr>
        <p:txBody>
          <a:bodyPr wrap="square" lIns="0" tIns="0" rIns="0" bIns="0" rtlCol="0" anchor="t"/>
          <a:lstStyle/>
          <a:p>
            <a:pPr marL="0" indent="0">
              <a:buNone/>
            </a:pPr>
            <a:r>
              <a:rPr lang="en-US" sz="1600" b="1" dirty="0">
                <a:solidFill>
                  <a:schemeClr val="accent2"/>
                </a:solidFill>
              </a:rPr>
              <a:t>Interface publique</a:t>
            </a:r>
            <a:endParaRPr lang="en-US" sz="1600" dirty="0"/>
          </a:p>
        </p:txBody>
      </p:sp>
      <p:sp>
        <p:nvSpPr>
          <p:cNvPr id="8" name="Texte 136"/>
          <p:cNvSpPr txBox="1"/>
          <p:nvPr/>
        </p:nvSpPr>
        <p:spPr>
          <a:xfrm>
            <a:off x="457200" y="3611880"/>
            <a:ext cx="4023360" cy="9144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Présentation des missions du LIAS</a:t>
            </a:r>
            <a:endParaRPr lang="en-US" sz="1400" dirty="0"/>
          </a:p>
          <a:p>
            <a:pPr marL="342900" indent="-342900">
              <a:spcAft>
                <a:spcPts val="300"/>
              </a:spcAft>
              <a:buSzPct val="100000"/>
              <a:buChar char="•"/>
            </a:pPr>
            <a:r>
              <a:rPr lang="en-US" sz="1400" dirty="0">
                <a:solidFill>
                  <a:schemeClr val="tx1"/>
                </a:solidFill>
              </a:rPr>
              <a:t>« Rejoindre le labo » : demande d'adhésion</a:t>
            </a:r>
            <a:endParaRPr lang="en-US" sz="1400" dirty="0"/>
          </a:p>
          <a:p>
            <a:pPr marL="342900" indent="-342900">
              <a:spcAft>
                <a:spcPts val="300"/>
              </a:spcAft>
              <a:buSzPct val="100000"/>
              <a:buChar char="•"/>
            </a:pPr>
            <a:r>
              <a:rPr lang="en-US" sz="1400" dirty="0">
                <a:solidFill>
                  <a:schemeClr val="tx1"/>
                </a:solidFill>
              </a:rPr>
              <a:t>« Connexion » réservée à la Direction</a:t>
            </a:r>
            <a:endParaRPr lang="en-US" sz="1400" dirty="0"/>
          </a:p>
        </p:txBody>
      </p:sp>
      <p:sp>
        <p:nvSpPr>
          <p:cNvPr id="9" name="Texte 137"/>
          <p:cNvSpPr txBox="1"/>
          <p:nvPr/>
        </p:nvSpPr>
        <p:spPr>
          <a:xfrm>
            <a:off x="4663440" y="3246120"/>
            <a:ext cx="4023360" cy="274320"/>
          </a:xfrm>
          <a:prstGeom prst="rect">
            <a:avLst/>
          </a:prstGeom>
          <a:noFill/>
          <a:ln/>
        </p:spPr>
        <p:txBody>
          <a:bodyPr wrap="square" lIns="0" tIns="0" rIns="0" bIns="0" rtlCol="0" anchor="t"/>
          <a:lstStyle/>
          <a:p>
            <a:pPr marL="0" indent="0">
              <a:buNone/>
            </a:pPr>
            <a:r>
              <a:rPr lang="en-US" sz="1600" b="1" dirty="0">
                <a:solidFill>
                  <a:schemeClr val="accent2"/>
                </a:solidFill>
              </a:rPr>
              <a:t>Dashboard de la Direction</a:t>
            </a:r>
            <a:endParaRPr lang="en-US" sz="1600" dirty="0"/>
          </a:p>
        </p:txBody>
      </p:sp>
      <p:sp>
        <p:nvSpPr>
          <p:cNvPr id="10" name="Texte 138"/>
          <p:cNvSpPr txBox="1"/>
          <p:nvPr/>
        </p:nvSpPr>
        <p:spPr>
          <a:xfrm>
            <a:off x="4663440" y="3611880"/>
            <a:ext cx="4023360" cy="9144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Menu : Gouvernance, Scientifique, Admin.</a:t>
            </a:r>
            <a:endParaRPr lang="en-US" sz="1400" dirty="0"/>
          </a:p>
          <a:p>
            <a:pPr marL="342900" indent="-342900">
              <a:spcAft>
                <a:spcPts val="300"/>
              </a:spcAft>
              <a:buSzPct val="100000"/>
              <a:buChar char="•"/>
            </a:pPr>
            <a:r>
              <a:rPr lang="en-US" sz="1400" dirty="0">
                <a:solidFill>
                  <a:schemeClr val="tx1"/>
                </a:solidFill>
              </a:rPr>
              <a:t>Annuaire trié par équipe, recherche live</a:t>
            </a:r>
            <a:endParaRPr lang="en-US" sz="1400" dirty="0"/>
          </a:p>
          <a:p>
            <a:pPr marL="342900" indent="-342900">
              <a:spcAft>
                <a:spcPts val="300"/>
              </a:spcAft>
              <a:buSzPct val="100000"/>
              <a:buChar char="•"/>
            </a:pPr>
            <a:r>
              <a:rPr lang="en-US" sz="1400" dirty="0">
                <a:solidFill>
                  <a:schemeClr val="tx1"/>
                </a:solidFill>
              </a:rPr>
              <a:t>Modifier, supprimer ou archiver un membre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Rapport annuel et archives</a:t>
            </a:r>
            <a:endParaRPr lang="en-US" sz="3600" dirty="0"/>
          </a:p>
        </p:txBody>
      </p:sp>
      <p:sp>
        <p:nvSpPr>
          <p:cNvPr id="3" name="Cadre capture 139"/>
          <p:cNvSpPr/>
          <p:nvPr/>
        </p:nvSpPr>
        <p:spPr>
          <a:xfrm>
            <a:off x="429768" y="1161288"/>
            <a:ext cx="4992624" cy="2323565"/>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4" name="Capture 140" descr="Capture d'écran image16.png"/>
          <p:cNvPicPr>
            <a:picLocks noChangeAspect="1"/>
          </p:cNvPicPr>
          <p:nvPr/>
        </p:nvPicPr>
        <p:blipFill>
          <a:blip r:embed="rId3"/>
          <a:stretch>
            <a:fillRect/>
          </a:stretch>
        </p:blipFill>
        <p:spPr>
          <a:xfrm>
            <a:off x="457200" y="1188720"/>
            <a:ext cx="4937760" cy="2268701"/>
          </a:xfrm>
          <a:prstGeom prst="rect">
            <a:avLst/>
          </a:prstGeom>
        </p:spPr>
      </p:pic>
      <p:sp>
        <p:nvSpPr>
          <p:cNvPr id="5" name="Texte 141"/>
          <p:cNvSpPr txBox="1"/>
          <p:nvPr/>
        </p:nvSpPr>
        <p:spPr>
          <a:xfrm>
            <a:off x="457200" y="3639312"/>
            <a:ext cx="4937760" cy="274320"/>
          </a:xfrm>
          <a:prstGeom prst="rect">
            <a:avLst/>
          </a:prstGeom>
          <a:noFill/>
          <a:ln/>
        </p:spPr>
        <p:txBody>
          <a:bodyPr wrap="square" lIns="0" tIns="0" rIns="0" bIns="0" rtlCol="0" anchor="t"/>
          <a:lstStyle/>
          <a:p>
            <a:pPr marL="0" indent="0">
              <a:buNone/>
            </a:pPr>
            <a:r>
              <a:rPr lang="en-US" sz="1600" b="1" dirty="0">
                <a:solidFill>
                  <a:schemeClr val="accent2"/>
                </a:solidFill>
              </a:rPr>
              <a:t>Rapport annuel automatisé</a:t>
            </a:r>
            <a:endParaRPr lang="en-US" sz="1600" dirty="0"/>
          </a:p>
        </p:txBody>
      </p:sp>
      <p:sp>
        <p:nvSpPr>
          <p:cNvPr id="6" name="Texte 142"/>
          <p:cNvSpPr txBox="1"/>
          <p:nvPr/>
        </p:nvSpPr>
        <p:spPr>
          <a:xfrm>
            <a:off x="457200" y="3977640"/>
            <a:ext cx="4937760" cy="5943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Statistiques calculées en temps réel depuis la base</a:t>
            </a:r>
            <a:endParaRPr lang="en-US" sz="1400" dirty="0"/>
          </a:p>
          <a:p>
            <a:pPr marL="342900" indent="-342900">
              <a:spcAft>
                <a:spcPts val="300"/>
              </a:spcAft>
              <a:buSzPct val="100000"/>
              <a:buChar char="•"/>
            </a:pPr>
            <a:r>
              <a:rPr lang="en-US" sz="1400" dirty="0">
                <a:solidFill>
                  <a:schemeClr val="tx1"/>
                </a:solidFill>
              </a:rPr>
              <a:t>Tableaux de synthèse, du plus récent au plus ancien</a:t>
            </a:r>
            <a:endParaRPr lang="en-US" sz="1400" dirty="0"/>
          </a:p>
        </p:txBody>
      </p:sp>
      <p:sp>
        <p:nvSpPr>
          <p:cNvPr id="7" name="Texte 143"/>
          <p:cNvSpPr txBox="1"/>
          <p:nvPr/>
        </p:nvSpPr>
        <p:spPr>
          <a:xfrm>
            <a:off x="5669280" y="1170432"/>
            <a:ext cx="3017520" cy="256032"/>
          </a:xfrm>
          <a:prstGeom prst="rect">
            <a:avLst/>
          </a:prstGeom>
          <a:noFill/>
          <a:ln/>
        </p:spPr>
        <p:txBody>
          <a:bodyPr wrap="square" lIns="0" tIns="0" rIns="0" bIns="0" rtlCol="0" anchor="t"/>
          <a:lstStyle/>
          <a:p>
            <a:pPr marL="0" indent="0">
              <a:buNone/>
            </a:pPr>
            <a:r>
              <a:rPr lang="en-US" sz="1400" b="1" dirty="0">
                <a:solidFill>
                  <a:schemeClr val="tx1"/>
                </a:solidFill>
              </a:rPr>
              <a:t>Archives : anciens membres</a:t>
            </a:r>
            <a:endParaRPr lang="en-US" sz="1400" dirty="0"/>
          </a:p>
        </p:txBody>
      </p:sp>
      <p:sp>
        <p:nvSpPr>
          <p:cNvPr id="8" name="Cadre capture 144"/>
          <p:cNvSpPr/>
          <p:nvPr/>
        </p:nvSpPr>
        <p:spPr>
          <a:xfrm>
            <a:off x="5641848" y="1481328"/>
            <a:ext cx="3072384" cy="936171"/>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9" name="Capture 145" descr="Capture d'écran image17.png"/>
          <p:cNvPicPr>
            <a:picLocks noChangeAspect="1"/>
          </p:cNvPicPr>
          <p:nvPr/>
        </p:nvPicPr>
        <p:blipFill>
          <a:blip r:embed="rId4"/>
          <a:stretch>
            <a:fillRect/>
          </a:stretch>
        </p:blipFill>
        <p:spPr>
          <a:xfrm>
            <a:off x="5669280" y="1508760"/>
            <a:ext cx="3017520" cy="881307"/>
          </a:xfrm>
          <a:prstGeom prst="rect">
            <a:avLst/>
          </a:prstGeom>
        </p:spPr>
      </p:pic>
      <p:sp>
        <p:nvSpPr>
          <p:cNvPr id="10" name="Texte 146"/>
          <p:cNvSpPr txBox="1"/>
          <p:nvPr/>
        </p:nvSpPr>
        <p:spPr>
          <a:xfrm>
            <a:off x="5669280" y="2664387"/>
            <a:ext cx="3017520" cy="256032"/>
          </a:xfrm>
          <a:prstGeom prst="rect">
            <a:avLst/>
          </a:prstGeom>
          <a:noFill/>
          <a:ln/>
        </p:spPr>
        <p:txBody>
          <a:bodyPr wrap="square" lIns="0" tIns="0" rIns="0" bIns="0" rtlCol="0" anchor="t"/>
          <a:lstStyle/>
          <a:p>
            <a:pPr marL="0" indent="0">
              <a:buNone/>
            </a:pPr>
            <a:r>
              <a:rPr lang="en-US" sz="1400" b="1" dirty="0">
                <a:solidFill>
                  <a:schemeClr val="tx1"/>
                </a:solidFill>
              </a:rPr>
              <a:t>Archivage documentaire</a:t>
            </a:r>
            <a:endParaRPr lang="en-US" sz="1400" dirty="0"/>
          </a:p>
        </p:txBody>
      </p:sp>
      <p:sp>
        <p:nvSpPr>
          <p:cNvPr id="11" name="Cadre capture 147"/>
          <p:cNvSpPr/>
          <p:nvPr/>
        </p:nvSpPr>
        <p:spPr>
          <a:xfrm>
            <a:off x="5641848" y="2956995"/>
            <a:ext cx="3072384" cy="141592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12" name="Capture 148" descr="Capture d'écran image18.png"/>
          <p:cNvPicPr>
            <a:picLocks noChangeAspect="1"/>
          </p:cNvPicPr>
          <p:nvPr/>
        </p:nvPicPr>
        <p:blipFill>
          <a:blip r:embed="rId5"/>
          <a:stretch>
            <a:fillRect/>
          </a:stretch>
        </p:blipFill>
        <p:spPr>
          <a:xfrm>
            <a:off x="5669280" y="2984427"/>
            <a:ext cx="3017520" cy="1361060"/>
          </a:xfrm>
          <a:prstGeom prst="rect">
            <a:avLst/>
          </a:prstGeom>
        </p:spPr>
      </p:pic>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tx1"/>
                </a:solidFill>
              </a:rPr>
              <a:t>Les autres modules</a:t>
            </a:r>
            <a:endParaRPr lang="en-US" sz="3600" dirty="0"/>
          </a:p>
        </p:txBody>
      </p:sp>
      <p:sp>
        <p:nvSpPr>
          <p:cNvPr id="3" name="Cadre capture 149"/>
          <p:cNvSpPr/>
          <p:nvPr/>
        </p:nvSpPr>
        <p:spPr>
          <a:xfrm>
            <a:off x="435004" y="1161288"/>
            <a:ext cx="2696152" cy="124358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4" name="Capture 150" descr="Capture d'écran image22.png"/>
          <p:cNvPicPr>
            <a:picLocks noChangeAspect="1"/>
          </p:cNvPicPr>
          <p:nvPr/>
        </p:nvPicPr>
        <p:blipFill>
          <a:blip r:embed="rId3"/>
          <a:stretch>
            <a:fillRect/>
          </a:stretch>
        </p:blipFill>
        <p:spPr>
          <a:xfrm>
            <a:off x="462436" y="1188720"/>
            <a:ext cx="2641288" cy="1188720"/>
          </a:xfrm>
          <a:prstGeom prst="rect">
            <a:avLst/>
          </a:prstGeom>
        </p:spPr>
      </p:pic>
      <p:sp>
        <p:nvSpPr>
          <p:cNvPr id="5" name="Texte 151"/>
          <p:cNvSpPr txBox="1"/>
          <p:nvPr/>
        </p:nvSpPr>
        <p:spPr>
          <a:xfrm>
            <a:off x="457200" y="24505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Publications scientifiques</a:t>
            </a:r>
            <a:endParaRPr lang="en-US" sz="1400" dirty="0"/>
          </a:p>
        </p:txBody>
      </p:sp>
      <p:sp>
        <p:nvSpPr>
          <p:cNvPr id="6" name="Cadre capture 152"/>
          <p:cNvSpPr/>
          <p:nvPr/>
        </p:nvSpPr>
        <p:spPr>
          <a:xfrm>
            <a:off x="3254490" y="1161288"/>
            <a:ext cx="2635021" cy="124358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7" name="Capture 153" descr="Capture d'écran image21.png"/>
          <p:cNvPicPr>
            <a:picLocks noChangeAspect="1"/>
          </p:cNvPicPr>
          <p:nvPr/>
        </p:nvPicPr>
        <p:blipFill>
          <a:blip r:embed="rId4"/>
          <a:stretch>
            <a:fillRect/>
          </a:stretch>
        </p:blipFill>
        <p:spPr>
          <a:xfrm>
            <a:off x="3281922" y="1188720"/>
            <a:ext cx="2580157" cy="1188720"/>
          </a:xfrm>
          <a:prstGeom prst="rect">
            <a:avLst/>
          </a:prstGeom>
        </p:spPr>
      </p:pic>
      <p:sp>
        <p:nvSpPr>
          <p:cNvPr id="8" name="Texte 154"/>
          <p:cNvSpPr txBox="1"/>
          <p:nvPr/>
        </p:nvSpPr>
        <p:spPr>
          <a:xfrm>
            <a:off x="3246120" y="24505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Événements scientifiques</a:t>
            </a:r>
            <a:endParaRPr lang="en-US" sz="1400" dirty="0"/>
          </a:p>
        </p:txBody>
      </p:sp>
      <p:sp>
        <p:nvSpPr>
          <p:cNvPr id="9" name="Cadre capture 155"/>
          <p:cNvSpPr/>
          <p:nvPr/>
        </p:nvSpPr>
        <p:spPr>
          <a:xfrm>
            <a:off x="6121306" y="1161288"/>
            <a:ext cx="2479227" cy="124358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10" name="Capture 156" descr="Capture d'écran image25.png"/>
          <p:cNvPicPr>
            <a:picLocks noChangeAspect="1"/>
          </p:cNvPicPr>
          <p:nvPr/>
        </p:nvPicPr>
        <p:blipFill>
          <a:blip r:embed="rId5"/>
          <a:stretch>
            <a:fillRect/>
          </a:stretch>
        </p:blipFill>
        <p:spPr>
          <a:xfrm>
            <a:off x="6148738" y="1188720"/>
            <a:ext cx="2424363" cy="1188720"/>
          </a:xfrm>
          <a:prstGeom prst="rect">
            <a:avLst/>
          </a:prstGeom>
        </p:spPr>
      </p:pic>
      <p:sp>
        <p:nvSpPr>
          <p:cNvPr id="11" name="Texte 157"/>
          <p:cNvSpPr txBox="1"/>
          <p:nvPr/>
        </p:nvSpPr>
        <p:spPr>
          <a:xfrm>
            <a:off x="6035040" y="24505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Inventaire du matériel</a:t>
            </a:r>
            <a:endParaRPr lang="en-US" sz="1400" dirty="0"/>
          </a:p>
        </p:txBody>
      </p:sp>
      <p:sp>
        <p:nvSpPr>
          <p:cNvPr id="12" name="Cadre capture 158"/>
          <p:cNvSpPr/>
          <p:nvPr/>
        </p:nvSpPr>
        <p:spPr>
          <a:xfrm>
            <a:off x="566928" y="2761488"/>
            <a:ext cx="2432304" cy="124358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13" name="Capture 159" descr="Capture d'écran image26.png"/>
          <p:cNvPicPr>
            <a:picLocks noChangeAspect="1"/>
          </p:cNvPicPr>
          <p:nvPr/>
        </p:nvPicPr>
        <p:blipFill>
          <a:blip r:embed="rId6"/>
          <a:stretch>
            <a:fillRect/>
          </a:stretch>
        </p:blipFill>
        <p:spPr>
          <a:xfrm>
            <a:off x="594360" y="2788920"/>
            <a:ext cx="2377440" cy="1188720"/>
          </a:xfrm>
          <a:prstGeom prst="rect">
            <a:avLst/>
          </a:prstGeom>
        </p:spPr>
      </p:pic>
      <p:sp>
        <p:nvSpPr>
          <p:cNvPr id="14" name="Texte 160"/>
          <p:cNvSpPr txBox="1"/>
          <p:nvPr/>
        </p:nvSpPr>
        <p:spPr>
          <a:xfrm>
            <a:off x="457200" y="40507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Réunions et PV</a:t>
            </a:r>
            <a:endParaRPr lang="en-US" sz="1400" dirty="0"/>
          </a:p>
        </p:txBody>
      </p:sp>
      <p:sp>
        <p:nvSpPr>
          <p:cNvPr id="15" name="Cadre capture 161"/>
          <p:cNvSpPr/>
          <p:nvPr/>
        </p:nvSpPr>
        <p:spPr>
          <a:xfrm>
            <a:off x="3218688" y="2856693"/>
            <a:ext cx="2706624" cy="105317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16" name="Capture 162" descr="Capture d'écran image28.png"/>
          <p:cNvPicPr>
            <a:picLocks noChangeAspect="1"/>
          </p:cNvPicPr>
          <p:nvPr/>
        </p:nvPicPr>
        <p:blipFill>
          <a:blip r:embed="rId7"/>
          <a:stretch>
            <a:fillRect/>
          </a:stretch>
        </p:blipFill>
        <p:spPr>
          <a:xfrm>
            <a:off x="3246120" y="2884125"/>
            <a:ext cx="2651760" cy="998310"/>
          </a:xfrm>
          <a:prstGeom prst="rect">
            <a:avLst/>
          </a:prstGeom>
        </p:spPr>
      </p:pic>
      <p:sp>
        <p:nvSpPr>
          <p:cNvPr id="17" name="Texte 163"/>
          <p:cNvSpPr txBox="1"/>
          <p:nvPr/>
        </p:nvSpPr>
        <p:spPr>
          <a:xfrm>
            <a:off x="3246120" y="40507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Conventions</a:t>
            </a:r>
            <a:endParaRPr lang="en-US" sz="1400" dirty="0"/>
          </a:p>
        </p:txBody>
      </p:sp>
      <p:sp>
        <p:nvSpPr>
          <p:cNvPr id="18" name="Cadre capture 164"/>
          <p:cNvSpPr/>
          <p:nvPr/>
        </p:nvSpPr>
        <p:spPr>
          <a:xfrm>
            <a:off x="6020448" y="2761488"/>
            <a:ext cx="2680943" cy="1243584"/>
          </a:xfrm>
          <a:prstGeom prst="rect">
            <a:avLst/>
          </a:prstGeom>
          <a:solidFill>
            <a:schemeClr val="bg2"/>
          </a:solidFill>
          <a:ln w="6350">
            <a:solidFill>
              <a:schemeClr val="bg2"/>
            </a:solidFill>
            <a:prstDash val="solid"/>
          </a:ln>
          <a:effectLst>
            <a:outerShdw blurRad="101600" dist="25400" dir="5400000" algn="bl" rotWithShape="0">
              <a:srgbClr val="000000">
                <a:alpha val="22000"/>
              </a:srgbClr>
            </a:outerShdw>
          </a:effectLst>
        </p:spPr>
      </p:sp>
      <p:pic>
        <p:nvPicPr>
          <p:cNvPr id="19" name="Capture 165" descr="Capture d'écran image20.png"/>
          <p:cNvPicPr>
            <a:picLocks noChangeAspect="1"/>
          </p:cNvPicPr>
          <p:nvPr/>
        </p:nvPicPr>
        <p:blipFill>
          <a:blip r:embed="rId8"/>
          <a:stretch>
            <a:fillRect/>
          </a:stretch>
        </p:blipFill>
        <p:spPr>
          <a:xfrm>
            <a:off x="6047880" y="2788920"/>
            <a:ext cx="2626079" cy="1188720"/>
          </a:xfrm>
          <a:prstGeom prst="rect">
            <a:avLst/>
          </a:prstGeom>
        </p:spPr>
      </p:pic>
      <p:sp>
        <p:nvSpPr>
          <p:cNvPr id="20" name="Texte 166"/>
          <p:cNvSpPr txBox="1"/>
          <p:nvPr/>
        </p:nvSpPr>
        <p:spPr>
          <a:xfrm>
            <a:off x="6035040" y="4050792"/>
            <a:ext cx="2651760" cy="256032"/>
          </a:xfrm>
          <a:prstGeom prst="rect">
            <a:avLst/>
          </a:prstGeom>
          <a:noFill/>
          <a:ln/>
        </p:spPr>
        <p:txBody>
          <a:bodyPr wrap="square" lIns="0" tIns="0" rIns="0" bIns="0" rtlCol="0" anchor="t"/>
          <a:lstStyle/>
          <a:p>
            <a:pPr marL="0" indent="0">
              <a:buNone/>
            </a:pPr>
            <a:r>
              <a:rPr lang="en-US" sz="1400" b="1" dirty="0">
                <a:solidFill>
                  <a:schemeClr val="tx1"/>
                </a:solidFill>
              </a:rPr>
              <a:t>Centre de notifications</a:t>
            </a:r>
            <a:endParaRPr lang="en-US" sz="1400" dirty="0"/>
          </a:p>
        </p:txBody>
      </p:sp>
      <p:sp>
        <p:nvSpPr>
          <p:cNvPr id="21" name="Texte 167"/>
          <p:cNvSpPr txBox="1"/>
          <p:nvPr/>
        </p:nvSpPr>
        <p:spPr>
          <a:xfrm>
            <a:off x="457200" y="4434840"/>
            <a:ext cx="8229600" cy="228600"/>
          </a:xfrm>
          <a:prstGeom prst="rect">
            <a:avLst/>
          </a:prstGeom>
          <a:noFill/>
          <a:ln/>
        </p:spPr>
        <p:txBody>
          <a:bodyPr wrap="square" lIns="0" tIns="0" rIns="0" bIns="0" rtlCol="0" anchor="t"/>
          <a:lstStyle/>
          <a:p>
            <a:pPr marL="0" indent="0">
              <a:buNone/>
            </a:pPr>
            <a:r>
              <a:rPr lang="en-US" sz="1200" dirty="0">
                <a:solidFill>
                  <a:schemeClr val="accent5"/>
                </a:solidFill>
              </a:rPr>
              <a:t>+ Demandes d'adhésion, calendrier scientifique, espace de communication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600" b="1" dirty="0">
                <a:solidFill>
                  <a:schemeClr val="bg1"/>
                </a:solidFill>
              </a:rPr>
              <a:t>Conclusion et perspectives</a:t>
            </a:r>
            <a:endParaRPr lang="en-US" sz="3600" dirty="0"/>
          </a:p>
        </p:txBody>
      </p:sp>
      <p:sp>
        <p:nvSpPr>
          <p:cNvPr id="3" name="Texte 168"/>
          <p:cNvSpPr txBox="1"/>
          <p:nvPr/>
        </p:nvSpPr>
        <p:spPr>
          <a:xfrm>
            <a:off x="457200" y="1188720"/>
            <a:ext cx="384048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CE QUE LE PROJET APPORTE</a:t>
            </a:r>
            <a:endParaRPr lang="en-US" sz="1200" dirty="0"/>
          </a:p>
        </p:txBody>
      </p:sp>
      <p:sp>
        <p:nvSpPr>
          <p:cNvPr id="4" name="Texte 169"/>
          <p:cNvSpPr txBox="1"/>
          <p:nvPr/>
        </p:nvSpPr>
        <p:spPr>
          <a:xfrm>
            <a:off x="457200" y="1572768"/>
            <a:ext cx="3840480" cy="502920"/>
          </a:xfrm>
          <a:prstGeom prst="rect">
            <a:avLst/>
          </a:prstGeom>
          <a:noFill/>
          <a:ln/>
        </p:spPr>
        <p:txBody>
          <a:bodyPr wrap="square" lIns="0" tIns="0" rIns="0" bIns="0" rtlCol="0" anchor="t"/>
          <a:lstStyle/>
          <a:p>
            <a:pPr marL="0" indent="0">
              <a:buNone/>
            </a:pPr>
            <a:r>
              <a:rPr lang="en-US" sz="1400" b="1" dirty="0">
                <a:solidFill>
                  <a:schemeClr val="accent1"/>
                </a:solidFill>
              </a:rPr>
              <a:t>Centralisation</a:t>
            </a:r>
            <a:endParaRPr lang="en-US" sz="1400" dirty="0"/>
          </a:p>
          <a:p>
            <a:pPr marL="0" indent="0">
              <a:buNone/>
            </a:pPr>
            <a:r>
              <a:rPr lang="en-US" sz="1400" dirty="0">
                <a:solidFill>
                  <a:schemeClr val="bg1"/>
                </a:solidFill>
              </a:rPr>
              <a:t>Toutes les données du labo au même endroit</a:t>
            </a:r>
            <a:endParaRPr lang="en-US" sz="1400" dirty="0"/>
          </a:p>
        </p:txBody>
      </p:sp>
      <p:sp>
        <p:nvSpPr>
          <p:cNvPr id="5" name="Texte 170"/>
          <p:cNvSpPr txBox="1"/>
          <p:nvPr/>
        </p:nvSpPr>
        <p:spPr>
          <a:xfrm>
            <a:off x="457200" y="2212848"/>
            <a:ext cx="3840480" cy="502920"/>
          </a:xfrm>
          <a:prstGeom prst="rect">
            <a:avLst/>
          </a:prstGeom>
          <a:noFill/>
          <a:ln/>
        </p:spPr>
        <p:txBody>
          <a:bodyPr wrap="square" lIns="0" tIns="0" rIns="0" bIns="0" rtlCol="0" anchor="t"/>
          <a:lstStyle/>
          <a:p>
            <a:pPr marL="0" indent="0">
              <a:buNone/>
            </a:pPr>
            <a:r>
              <a:rPr lang="en-US" sz="1400" b="1" dirty="0">
                <a:solidFill>
                  <a:schemeClr val="accent1"/>
                </a:solidFill>
              </a:rPr>
              <a:t>Traçabilité</a:t>
            </a:r>
            <a:endParaRPr lang="en-US" sz="1400" dirty="0"/>
          </a:p>
          <a:p>
            <a:pPr marL="0" indent="0">
              <a:buNone/>
            </a:pPr>
            <a:r>
              <a:rPr lang="en-US" sz="1400" dirty="0">
                <a:solidFill>
                  <a:schemeClr val="bg1"/>
                </a:solidFill>
              </a:rPr>
              <a:t>Notifications, archives et procès-verbaux</a:t>
            </a:r>
            <a:endParaRPr lang="en-US" sz="1400" dirty="0"/>
          </a:p>
        </p:txBody>
      </p:sp>
      <p:sp>
        <p:nvSpPr>
          <p:cNvPr id="6" name="Texte 171"/>
          <p:cNvSpPr txBox="1"/>
          <p:nvPr/>
        </p:nvSpPr>
        <p:spPr>
          <a:xfrm>
            <a:off x="457200" y="2852928"/>
            <a:ext cx="3840480" cy="502920"/>
          </a:xfrm>
          <a:prstGeom prst="rect">
            <a:avLst/>
          </a:prstGeom>
          <a:noFill/>
          <a:ln/>
        </p:spPr>
        <p:txBody>
          <a:bodyPr wrap="square" lIns="0" tIns="0" rIns="0" bIns="0" rtlCol="0" anchor="t"/>
          <a:lstStyle/>
          <a:p>
            <a:pPr marL="0" indent="0">
              <a:buNone/>
            </a:pPr>
            <a:r>
              <a:rPr lang="en-US" sz="1400" b="1" dirty="0">
                <a:solidFill>
                  <a:schemeClr val="accent1"/>
                </a:solidFill>
              </a:rPr>
              <a:t>Automatisation</a:t>
            </a:r>
            <a:endParaRPr lang="en-US" sz="1400" dirty="0"/>
          </a:p>
          <a:p>
            <a:pPr marL="0" indent="0">
              <a:buNone/>
            </a:pPr>
            <a:r>
              <a:rPr lang="en-US" sz="1400" dirty="0">
                <a:solidFill>
                  <a:schemeClr val="bg1"/>
                </a:solidFill>
              </a:rPr>
              <a:t>Rapport annuel généré en un clic</a:t>
            </a:r>
            <a:endParaRPr lang="en-US" sz="1400" dirty="0"/>
          </a:p>
        </p:txBody>
      </p:sp>
      <p:sp>
        <p:nvSpPr>
          <p:cNvPr id="7" name="Texte 172"/>
          <p:cNvSpPr txBox="1"/>
          <p:nvPr/>
        </p:nvSpPr>
        <p:spPr>
          <a:xfrm>
            <a:off x="457200" y="3493008"/>
            <a:ext cx="3840480" cy="502920"/>
          </a:xfrm>
          <a:prstGeom prst="rect">
            <a:avLst/>
          </a:prstGeom>
          <a:noFill/>
          <a:ln/>
        </p:spPr>
        <p:txBody>
          <a:bodyPr wrap="square" lIns="0" tIns="0" rIns="0" bIns="0" rtlCol="0" anchor="t"/>
          <a:lstStyle/>
          <a:p>
            <a:pPr marL="0" indent="0">
              <a:buNone/>
            </a:pPr>
            <a:r>
              <a:rPr lang="en-US" sz="1400" b="1" dirty="0">
                <a:solidFill>
                  <a:schemeClr val="accent1"/>
                </a:solidFill>
              </a:rPr>
              <a:t>JEE moderne</a:t>
            </a:r>
            <a:endParaRPr lang="en-US" sz="1400" dirty="0"/>
          </a:p>
          <a:p>
            <a:pPr marL="0" indent="0">
              <a:buNone/>
            </a:pPr>
            <a:r>
              <a:rPr lang="en-US" sz="1400" dirty="0">
                <a:solidFill>
                  <a:schemeClr val="bg1"/>
                </a:solidFill>
              </a:rPr>
              <a:t>Spring Boot 3, JPA, MVC, MySQL</a:t>
            </a:r>
            <a:endParaRPr lang="en-US" sz="1400" dirty="0"/>
          </a:p>
        </p:txBody>
      </p:sp>
      <p:sp>
        <p:nvSpPr>
          <p:cNvPr id="8" name="Texte 173"/>
          <p:cNvSpPr txBox="1"/>
          <p:nvPr/>
        </p:nvSpPr>
        <p:spPr>
          <a:xfrm>
            <a:off x="4754880" y="1188720"/>
            <a:ext cx="3931920" cy="256032"/>
          </a:xfrm>
          <a:prstGeom prst="rect">
            <a:avLst/>
          </a:prstGeom>
          <a:noFill/>
          <a:ln/>
        </p:spPr>
        <p:txBody>
          <a:bodyPr wrap="square" lIns="0" tIns="0" rIns="0" bIns="0" rtlCol="0" anchor="t"/>
          <a:lstStyle/>
          <a:p>
            <a:pPr marL="0" indent="0">
              <a:buNone/>
            </a:pPr>
            <a:r>
              <a:rPr lang="en-US" sz="1200" b="1" kern="0" spc="200" dirty="0">
                <a:solidFill>
                  <a:schemeClr val="accent1"/>
                </a:solidFill>
              </a:rPr>
              <a:t>PERSPECTIVES</a:t>
            </a:r>
            <a:endParaRPr lang="en-US" sz="1200" dirty="0"/>
          </a:p>
        </p:txBody>
      </p:sp>
      <p:sp>
        <p:nvSpPr>
          <p:cNvPr id="9" name="Pastille 174"/>
          <p:cNvSpPr/>
          <p:nvPr/>
        </p:nvSpPr>
        <p:spPr>
          <a:xfrm>
            <a:off x="4754880" y="1536192"/>
            <a:ext cx="457200" cy="457200"/>
          </a:xfrm>
          <a:prstGeom prst="ellipse">
            <a:avLst/>
          </a:prstGeom>
          <a:solidFill>
            <a:schemeClr val="accent2"/>
          </a:solidFill>
          <a:ln w="12700">
            <a:solidFill>
              <a:schemeClr val="accent2"/>
            </a:solidFill>
            <a:prstDash val="solid"/>
          </a:ln>
        </p:spPr>
      </p:sp>
      <p:pic>
        <p:nvPicPr>
          <p:cNvPr id="10" name="Icône 175" descr="icône"/>
          <p:cNvPicPr>
            <a:picLocks noChangeAspect="1"/>
          </p:cNvPicPr>
          <p:nvPr/>
        </p:nvPicPr>
        <p:blipFill>
          <a:blip r:embed="rId3"/>
          <a:stretch>
            <a:fillRect/>
          </a:stretch>
        </p:blipFill>
        <p:spPr>
          <a:xfrm>
            <a:off x="4869180" y="1650492"/>
            <a:ext cx="228600" cy="228600"/>
          </a:xfrm>
          <a:prstGeom prst="rect">
            <a:avLst/>
          </a:prstGeom>
        </p:spPr>
      </p:pic>
      <p:sp>
        <p:nvSpPr>
          <p:cNvPr id="11" name="Texte 176"/>
          <p:cNvSpPr txBox="1"/>
          <p:nvPr/>
        </p:nvSpPr>
        <p:spPr>
          <a:xfrm>
            <a:off x="5394960" y="1536192"/>
            <a:ext cx="3291840" cy="457200"/>
          </a:xfrm>
          <a:prstGeom prst="rect">
            <a:avLst/>
          </a:prstGeom>
          <a:noFill/>
          <a:ln/>
        </p:spPr>
        <p:txBody>
          <a:bodyPr wrap="square" lIns="0" tIns="0" rIns="0" bIns="0" rtlCol="0" anchor="ctr"/>
          <a:lstStyle/>
          <a:p>
            <a:pPr marL="0" indent="0">
              <a:buNone/>
            </a:pPr>
            <a:r>
              <a:rPr lang="en-US" sz="1400" dirty="0">
                <a:solidFill>
                  <a:schemeClr val="bg1"/>
                </a:solidFill>
              </a:rPr>
              <a:t>Upload réel des PDF sur le serveur</a:t>
            </a:r>
            <a:endParaRPr lang="en-US" sz="1400" dirty="0"/>
          </a:p>
        </p:txBody>
      </p:sp>
      <p:sp>
        <p:nvSpPr>
          <p:cNvPr id="12" name="Pastille 177"/>
          <p:cNvSpPr/>
          <p:nvPr/>
        </p:nvSpPr>
        <p:spPr>
          <a:xfrm>
            <a:off x="4754880" y="2176272"/>
            <a:ext cx="457200" cy="457200"/>
          </a:xfrm>
          <a:prstGeom prst="ellipse">
            <a:avLst/>
          </a:prstGeom>
          <a:solidFill>
            <a:schemeClr val="accent2"/>
          </a:solidFill>
          <a:ln w="12700">
            <a:solidFill>
              <a:schemeClr val="accent2"/>
            </a:solidFill>
            <a:prstDash val="solid"/>
          </a:ln>
        </p:spPr>
      </p:sp>
      <p:pic>
        <p:nvPicPr>
          <p:cNvPr id="13" name="Icône 178" descr="icône"/>
          <p:cNvPicPr>
            <a:picLocks noChangeAspect="1"/>
          </p:cNvPicPr>
          <p:nvPr/>
        </p:nvPicPr>
        <p:blipFill>
          <a:blip r:embed="rId4"/>
          <a:stretch>
            <a:fillRect/>
          </a:stretch>
        </p:blipFill>
        <p:spPr>
          <a:xfrm>
            <a:off x="4869180" y="2290572"/>
            <a:ext cx="228600" cy="228600"/>
          </a:xfrm>
          <a:prstGeom prst="rect">
            <a:avLst/>
          </a:prstGeom>
        </p:spPr>
      </p:pic>
      <p:sp>
        <p:nvSpPr>
          <p:cNvPr id="14" name="Texte 179"/>
          <p:cNvSpPr txBox="1"/>
          <p:nvPr/>
        </p:nvSpPr>
        <p:spPr>
          <a:xfrm>
            <a:off x="5394960" y="2176272"/>
            <a:ext cx="3291840" cy="457200"/>
          </a:xfrm>
          <a:prstGeom prst="rect">
            <a:avLst/>
          </a:prstGeom>
          <a:noFill/>
          <a:ln/>
        </p:spPr>
        <p:txBody>
          <a:bodyPr wrap="square" lIns="0" tIns="0" rIns="0" bIns="0" rtlCol="0" anchor="ctr"/>
          <a:lstStyle/>
          <a:p>
            <a:pPr marL="0" indent="0">
              <a:buNone/>
            </a:pPr>
            <a:r>
              <a:rPr lang="en-US" sz="1400" dirty="0">
                <a:solidFill>
                  <a:schemeClr val="bg1"/>
                </a:solidFill>
              </a:rPr>
              <a:t>Alertes email (SMTP) aux membres</a:t>
            </a:r>
            <a:endParaRPr lang="en-US" sz="1400" dirty="0"/>
          </a:p>
        </p:txBody>
      </p:sp>
      <p:sp>
        <p:nvSpPr>
          <p:cNvPr id="15" name="Pastille 180"/>
          <p:cNvSpPr/>
          <p:nvPr/>
        </p:nvSpPr>
        <p:spPr>
          <a:xfrm>
            <a:off x="4754880" y="2816352"/>
            <a:ext cx="457200" cy="457200"/>
          </a:xfrm>
          <a:prstGeom prst="ellipse">
            <a:avLst/>
          </a:prstGeom>
          <a:solidFill>
            <a:schemeClr val="accent2"/>
          </a:solidFill>
          <a:ln w="12700">
            <a:solidFill>
              <a:schemeClr val="accent2"/>
            </a:solidFill>
            <a:prstDash val="solid"/>
          </a:ln>
        </p:spPr>
      </p:sp>
      <p:pic>
        <p:nvPicPr>
          <p:cNvPr id="16" name="Icône 181" descr="icône"/>
          <p:cNvPicPr>
            <a:picLocks noChangeAspect="1"/>
          </p:cNvPicPr>
          <p:nvPr/>
        </p:nvPicPr>
        <p:blipFill>
          <a:blip r:embed="rId5"/>
          <a:stretch>
            <a:fillRect/>
          </a:stretch>
        </p:blipFill>
        <p:spPr>
          <a:xfrm>
            <a:off x="4869180" y="2930652"/>
            <a:ext cx="228600" cy="228600"/>
          </a:xfrm>
          <a:prstGeom prst="rect">
            <a:avLst/>
          </a:prstGeom>
        </p:spPr>
      </p:pic>
      <p:sp>
        <p:nvSpPr>
          <p:cNvPr id="17" name="Texte 182"/>
          <p:cNvSpPr txBox="1"/>
          <p:nvPr/>
        </p:nvSpPr>
        <p:spPr>
          <a:xfrm>
            <a:off x="5394960" y="2816352"/>
            <a:ext cx="3291840" cy="457200"/>
          </a:xfrm>
          <a:prstGeom prst="rect">
            <a:avLst/>
          </a:prstGeom>
          <a:noFill/>
          <a:ln/>
        </p:spPr>
        <p:txBody>
          <a:bodyPr wrap="square" lIns="0" tIns="0" rIns="0" bIns="0" rtlCol="0" anchor="ctr"/>
          <a:lstStyle/>
          <a:p>
            <a:pPr marL="0" indent="0">
              <a:buNone/>
            </a:pPr>
            <a:r>
              <a:rPr lang="en-US" sz="1400" dirty="0">
                <a:solidFill>
                  <a:schemeClr val="bg1"/>
                </a:solidFill>
              </a:rPr>
              <a:t>IA : suggérer des collaborations</a:t>
            </a:r>
            <a:endParaRPr lang="en-US" sz="1400" dirty="0"/>
          </a:p>
        </p:txBody>
      </p:sp>
      <p:sp>
        <p:nvSpPr>
          <p:cNvPr id="18" name="Pastille 183"/>
          <p:cNvSpPr/>
          <p:nvPr/>
        </p:nvSpPr>
        <p:spPr>
          <a:xfrm>
            <a:off x="4754880" y="3456432"/>
            <a:ext cx="457200" cy="457200"/>
          </a:xfrm>
          <a:prstGeom prst="ellipse">
            <a:avLst/>
          </a:prstGeom>
          <a:solidFill>
            <a:schemeClr val="accent2"/>
          </a:solidFill>
          <a:ln w="12700">
            <a:solidFill>
              <a:schemeClr val="accent2"/>
            </a:solidFill>
            <a:prstDash val="solid"/>
          </a:ln>
        </p:spPr>
      </p:sp>
      <p:pic>
        <p:nvPicPr>
          <p:cNvPr id="19" name="Icône 184" descr="icône"/>
          <p:cNvPicPr>
            <a:picLocks noChangeAspect="1"/>
          </p:cNvPicPr>
          <p:nvPr/>
        </p:nvPicPr>
        <p:blipFill>
          <a:blip r:embed="rId6"/>
          <a:stretch>
            <a:fillRect/>
          </a:stretch>
        </p:blipFill>
        <p:spPr>
          <a:xfrm>
            <a:off x="4869180" y="3570732"/>
            <a:ext cx="228600" cy="228600"/>
          </a:xfrm>
          <a:prstGeom prst="rect">
            <a:avLst/>
          </a:prstGeom>
        </p:spPr>
      </p:pic>
      <p:sp>
        <p:nvSpPr>
          <p:cNvPr id="20" name="Texte 185"/>
          <p:cNvSpPr txBox="1"/>
          <p:nvPr/>
        </p:nvSpPr>
        <p:spPr>
          <a:xfrm>
            <a:off x="5394960" y="3456432"/>
            <a:ext cx="3291840" cy="457200"/>
          </a:xfrm>
          <a:prstGeom prst="rect">
            <a:avLst/>
          </a:prstGeom>
          <a:noFill/>
          <a:ln/>
        </p:spPr>
        <p:txBody>
          <a:bodyPr wrap="square" lIns="0" tIns="0" rIns="0" bIns="0" rtlCol="0" anchor="ctr"/>
          <a:lstStyle/>
          <a:p>
            <a:pPr marL="0" indent="0">
              <a:buNone/>
            </a:pPr>
            <a:r>
              <a:rPr lang="en-US" sz="1400" dirty="0">
                <a:solidFill>
                  <a:schemeClr val="bg1"/>
                </a:solidFill>
              </a:rPr>
              <a:t>Application mobile</a:t>
            </a:r>
            <a:endParaRPr lang="en-US" sz="1400" dirty="0"/>
          </a:p>
        </p:txBody>
      </p:sp>
      <p:sp>
        <p:nvSpPr>
          <p:cNvPr id="21" name="Texte 186"/>
          <p:cNvSpPr txBox="1"/>
          <p:nvPr/>
        </p:nvSpPr>
        <p:spPr>
          <a:xfrm>
            <a:off x="457200" y="4160520"/>
            <a:ext cx="8229600" cy="457200"/>
          </a:xfrm>
          <a:prstGeom prst="rect">
            <a:avLst/>
          </a:prstGeom>
          <a:noFill/>
          <a:ln/>
        </p:spPr>
        <p:txBody>
          <a:bodyPr wrap="square" lIns="0" tIns="0" rIns="0" bIns="0" rtlCol="0" anchor="ctr"/>
          <a:lstStyle/>
          <a:p>
            <a:pPr marL="0" indent="0">
              <a:buNone/>
            </a:pPr>
            <a:r>
              <a:rPr lang="en-US" sz="2400" b="1" dirty="0">
                <a:solidFill>
                  <a:schemeClr val="bg1"/>
                </a:solidFill>
              </a:rPr>
              <a:t>Merci pour votre attention  ·  </a:t>
            </a:r>
            <a:r>
              <a:rPr lang="en-US" sz="2400" b="1" dirty="0">
                <a:solidFill>
                  <a:schemeClr val="accent1"/>
                </a:solidFill>
              </a:rPr>
              <a:t>Questions ?</a:t>
            </a:r>
            <a:endParaRPr lang="en-US" sz="2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AFC0D6"/>
                </a:solidFill>
              </a:defRPr>
            </a:lvl1pPr>
          </a:lstStyle>
          <a:p>
            <a:pPr algn="r"/>
            <a:fld id="{F7021451-1387-4CA6-816F-3879F97B5CBC}" type="slidenum">
              <a:rPr lang="en-US" b="0"/>
              <a:t>10</a:t>
            </a:fld>
            <a:endParaRPr lang="en-US"/>
          </a:p>
        </p:txBody>
      </p:sp>
      <p:pic>
        <p:nvPicPr>
          <p:cNvPr id="23" name="Image 22">
            <a:extLst>
              <a:ext uri="{FF2B5EF4-FFF2-40B4-BE49-F238E27FC236}">
                <a16:creationId xmlns:a16="http://schemas.microsoft.com/office/drawing/2014/main" id="{A3D63CC6-511A-C8AE-917E-B95A441C09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98080" y="62357"/>
            <a:ext cx="1287194" cy="477139"/>
          </a:xfrm>
          <a:prstGeom prst="rect">
            <a:avLst/>
          </a:prstGeom>
        </p:spPr>
      </p:pic>
      <p:pic>
        <p:nvPicPr>
          <p:cNvPr id="26" name="Image 25">
            <a:extLst>
              <a:ext uri="{FF2B5EF4-FFF2-40B4-BE49-F238E27FC236}">
                <a16:creationId xmlns:a16="http://schemas.microsoft.com/office/drawing/2014/main" id="{73D1AD0B-1EC3-1853-FA6D-CBE5DF0A5AB0}"/>
              </a:ext>
            </a:extLst>
          </p:cNvPr>
          <p:cNvPicPr>
            <a:picLocks noChangeAspect="1"/>
          </p:cNvPicPr>
          <p:nvPr/>
        </p:nvPicPr>
        <p:blipFill>
          <a:blip r:embed="rId8"/>
          <a:stretch>
            <a:fillRect/>
          </a:stretch>
        </p:blipFill>
        <p:spPr>
          <a:xfrm>
            <a:off x="7617654" y="4064157"/>
            <a:ext cx="1230923" cy="457200"/>
          </a:xfrm>
          <a:prstGeom prst="rect">
            <a:avLst/>
          </a:prstGeom>
        </p:spPr>
      </p:pic>
    </p:spTree>
  </p:cSld>
  <p:clrMapOvr>
    <a:masterClrMapping/>
  </p:clrMapOvr>
</p:sld>
</file>

<file path=ppt/theme/theme1.xml><?xml version="1.0" encoding="utf-8"?>
<a:theme xmlns:a="http://schemas.openxmlformats.org/drawingml/2006/main" name="LIAS Manager">
  <a:themeElements>
    <a:clrScheme name="LIAS Manager">
      <a:dk1>
        <a:srgbClr val="0B1220"/>
      </a:dk1>
      <a:lt1>
        <a:srgbClr val="FFFFFF"/>
      </a:lt1>
      <a:dk2>
        <a:srgbClr val="16243F"/>
      </a:dk2>
      <a:lt2>
        <a:srgbClr val="EEF3F8"/>
      </a:lt2>
      <a:accent1>
        <a:srgbClr val="22B8E8"/>
      </a:accent1>
      <a:accent2>
        <a:srgbClr val="0E7FA8"/>
      </a:accent2>
      <a:accent3>
        <a:srgbClr val="F5A524"/>
      </a:accent3>
      <a:accent4>
        <a:srgbClr val="34D399"/>
      </a:accent4>
      <a:accent5>
        <a:srgbClr val="5B6B82"/>
      </a:accent5>
      <a:accent6>
        <a:srgbClr val="A78BFA"/>
      </a:accent6>
      <a:hlink>
        <a:srgbClr val="22B8E8"/>
      </a:hlink>
      <a:folHlink>
        <a:srgbClr val="5B6B82"/>
      </a:folHlink>
    </a:clrScheme>
    <a:fontScheme name="LIAS Manag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2013 – 2022">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1398</Words>
  <Application>Microsoft Office PowerPoint</Application>
  <PresentationFormat>Affichage à l'écran (16:9)</PresentationFormat>
  <Paragraphs>155</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Courier New</vt:lpstr>
      <vt:lpstr>LIAS Manager</vt:lpstr>
      <vt:lpstr>LIAS Manager</vt:lpstr>
      <vt:lpstr>Contexte et problématique</vt:lpstr>
      <vt:lpstr>Besoins et acteurs</vt:lpstr>
      <vt:lpstr>Conception et architecture</vt:lpstr>
      <vt:lpstr>Environnement technique</vt:lpstr>
      <vt:lpstr>Sécurité et traçabilité</vt:lpstr>
      <vt:lpstr>Interface et espace Direction</vt:lpstr>
      <vt:lpstr>Rapport annuel et archives</vt:lpstr>
      <vt:lpstr>Les autres modules</vt:lpstr>
      <vt:lpstr>Conclusion et perspectives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LIAS Manager – Plateforme web de gestion du laboratoire LIAS</dc:title>
  <dc:subject>PptxGenJS Presentation</dc:subject>
  <dc:creator>Ouatile Yousra</dc:creator>
  <cp:lastModifiedBy>YOUSRA OUATILE</cp:lastModifiedBy>
  <cp:revision>2</cp:revision>
  <dcterms:created xsi:type="dcterms:W3CDTF">2026-10-21T16:22:27Z</dcterms:created>
  <dcterms:modified xsi:type="dcterms:W3CDTF">2026-10-21T16:55:58Z</dcterms:modified>
</cp:coreProperties>
</file>